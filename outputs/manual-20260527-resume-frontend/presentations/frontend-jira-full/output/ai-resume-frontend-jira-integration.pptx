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07b05c4e27b4caf" /><Relationship Type="http://schemas.openxmlformats.org/officeDocument/2006/relationships/extended-properties" Target="/docProps/app.xml" Id="R412c7a44b3e64c5c" /><Relationship Type="http://schemas.openxmlformats.org/officeDocument/2006/relationships/officeDocument" Target="/ppt/presentation.xml" Id="R56c7c7ecbd5c484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4e451b3475949bd"/>
  </p:sldMasterIdLst>
  <p:notesMasterIdLst>
    <p:notesMasterId xmlns:r="http://schemas.openxmlformats.org/officeDocument/2006/relationships" r:id="R50e36466f4804248"/>
  </p:notesMasterIdLst>
  <p:sldIdLst>
    <p:sldId xmlns:r="http://schemas.openxmlformats.org/officeDocument/2006/relationships" id="256" r:id="Rb0933941dbf54a5d"/>
    <p:sldId xmlns:r="http://schemas.openxmlformats.org/officeDocument/2006/relationships" id="257" r:id="Refa242f934c8472b"/>
    <p:sldId xmlns:r="http://schemas.openxmlformats.org/officeDocument/2006/relationships" id="258" r:id="R690b5d05c0fc44cb"/>
    <p:sldId xmlns:r="http://schemas.openxmlformats.org/officeDocument/2006/relationships" id="259" r:id="Rf34c6c04f10145bd"/>
    <p:sldId xmlns:r="http://schemas.openxmlformats.org/officeDocument/2006/relationships" id="260" r:id="Rb83aff1fb0ff4883"/>
    <p:sldId xmlns:r="http://schemas.openxmlformats.org/officeDocument/2006/relationships" id="261" r:id="R6b484aa77d0e49d0"/>
    <p:sldId xmlns:r="http://schemas.openxmlformats.org/officeDocument/2006/relationships" id="262" r:id="Redc46bdbedb64df4"/>
    <p:sldId xmlns:r="http://schemas.openxmlformats.org/officeDocument/2006/relationships" id="263" r:id="R2a43305afd444f84"/>
    <p:sldId xmlns:r="http://schemas.openxmlformats.org/officeDocument/2006/relationships" id="264" r:id="Rb396d3d13a254a81"/>
    <p:sldId xmlns:r="http://schemas.openxmlformats.org/officeDocument/2006/relationships" id="265" r:id="R882722ac79cb49c8"/>
    <p:sldId xmlns:r="http://schemas.openxmlformats.org/officeDocument/2006/relationships" id="266" r:id="R00a1d47241904dde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4e451b3475949bd" /><Relationship Type="http://schemas.openxmlformats.org/officeDocument/2006/relationships/theme" Target="/ppt/theme/theme1.xml" Id="R4e8c89d8357f48e3" /><Relationship Type="http://schemas.openxmlformats.org/officeDocument/2006/relationships/notesMaster" Target="/ppt/notesMasters/notesMaster1.xml" Id="R50e36466f4804248" /><Relationship Type="http://schemas.openxmlformats.org/officeDocument/2006/relationships/presProps" Target="/ppt/presProps.xml" Id="R8e38f6b3842c4de4" /><Relationship Type="http://schemas.openxmlformats.org/officeDocument/2006/relationships/viewProps" Target="/ppt/viewProps.xml" Id="Rf0f0d6f64a1848f6" /><Relationship Type="http://schemas.openxmlformats.org/officeDocument/2006/relationships/tableStyles" Target="/ppt/tableStyles.xml" Id="R68e98afd229b4ffd" /><Relationship Type="http://schemas.openxmlformats.org/officeDocument/2006/relationships/slide" Target="/ppt/slides/slide1.xml" Id="Rb0933941dbf54a5d" /><Relationship Type="http://schemas.openxmlformats.org/officeDocument/2006/relationships/slide" Target="/ppt/slides/slide2.xml" Id="Refa242f934c8472b" /><Relationship Type="http://schemas.openxmlformats.org/officeDocument/2006/relationships/slide" Target="/ppt/slides/slide3.xml" Id="R690b5d05c0fc44cb" /><Relationship Type="http://schemas.openxmlformats.org/officeDocument/2006/relationships/slide" Target="/ppt/slides/slide4.xml" Id="Rf34c6c04f10145bd" /><Relationship Type="http://schemas.openxmlformats.org/officeDocument/2006/relationships/slide" Target="/ppt/slides/slide5.xml" Id="Rb83aff1fb0ff4883" /><Relationship Type="http://schemas.openxmlformats.org/officeDocument/2006/relationships/slide" Target="/ppt/slides/slide6.xml" Id="R6b484aa77d0e49d0" /><Relationship Type="http://schemas.openxmlformats.org/officeDocument/2006/relationships/slide" Target="/ppt/slides/slide7.xml" Id="Redc46bdbedb64df4" /><Relationship Type="http://schemas.openxmlformats.org/officeDocument/2006/relationships/slide" Target="/ppt/slides/slide8.xml" Id="R2a43305afd444f84" /><Relationship Type="http://schemas.openxmlformats.org/officeDocument/2006/relationships/slide" Target="/ppt/slides/slide9.xml" Id="Rb396d3d13a254a81" /><Relationship Type="http://schemas.openxmlformats.org/officeDocument/2006/relationships/slide" Target="/ppt/slides/slide10.xml" Id="R882722ac79cb49c8" /><Relationship Type="http://schemas.openxmlformats.org/officeDocument/2006/relationships/slide" Target="/ppt/slides/slide11.xml" Id="R00a1d47241904dd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97160a46a44d458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6e11c0319fc48ec" /><Relationship Type="http://schemas.openxmlformats.org/officeDocument/2006/relationships/notesMaster" Target="/ppt/notesMasters/notesMaster1.xml" Id="Rc5c244225d5149a4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698717a1f52847a9" /><Relationship Type="http://schemas.openxmlformats.org/officeDocument/2006/relationships/notesMaster" Target="/ppt/notesMasters/notesMaster1.xml" Id="Re27742a82241464c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4ef9419227d14708" /><Relationship Type="http://schemas.openxmlformats.org/officeDocument/2006/relationships/notesMaster" Target="/ppt/notesMasters/notesMaster1.xml" Id="Rcec37ef31cab4270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a4dbf497c0f447ae" /><Relationship Type="http://schemas.openxmlformats.org/officeDocument/2006/relationships/notesMaster" Target="/ppt/notesMasters/notesMaster1.xml" Id="R6a843aeb52e04138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d32cc1685d664eec" /><Relationship Type="http://schemas.openxmlformats.org/officeDocument/2006/relationships/notesMaster" Target="/ppt/notesMasters/notesMaster1.xml" Id="R044b982d0a3d4908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5520e2918c3a40ea" /><Relationship Type="http://schemas.openxmlformats.org/officeDocument/2006/relationships/notesMaster" Target="/ppt/notesMasters/notesMaster1.xml" Id="R07beb44690314cb3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54b3292598e44019" /><Relationship Type="http://schemas.openxmlformats.org/officeDocument/2006/relationships/notesMaster" Target="/ppt/notesMasters/notesMaster1.xml" Id="R8f1959ae3de04330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b75749a970a548e8" /><Relationship Type="http://schemas.openxmlformats.org/officeDocument/2006/relationships/notesMaster" Target="/ppt/notesMasters/notesMaster1.xml" Id="R92e3c3bb5f724e3e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f5efe4fc57f24f56" /><Relationship Type="http://schemas.openxmlformats.org/officeDocument/2006/relationships/notesMaster" Target="/ppt/notesMasters/notesMaster1.xml" Id="R386b49483d1f4658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94c035769c2c41a2" /><Relationship Type="http://schemas.openxmlformats.org/officeDocument/2006/relationships/notesMaster" Target="/ppt/notesMasters/notesMaster1.xml" Id="Rd6f5d78f8f064618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ce7e5dc3ee774bd7" /><Relationship Type="http://schemas.openxmlformats.org/officeDocument/2006/relationships/notesMaster" Target="/ppt/notesMasters/notesMaster1.xml" Id="R7c81bdbf3396498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d6227ea29b448fa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23184defc7474302" /><Relationship Type="http://schemas.openxmlformats.org/officeDocument/2006/relationships/slideLayout" Target="/ppt/slideLayouts/slideLayout2.xml" Id="Re39e9724b68d4270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39e9724b68d427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2df5625f31842da" /><Relationship Type="http://schemas.openxmlformats.org/officeDocument/2006/relationships/notesSlide" Target="/ppt/notesSlides/notesSlide1.xml" Id="Rf2263456b0f64bc9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a9568cd1d6d42bd" /><Relationship Type="http://schemas.openxmlformats.org/officeDocument/2006/relationships/notesSlide" Target="/ppt/notesSlides/notesSlide2.xml" Id="R372cb0f0a04c4ced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d07ff1153f449ca" /><Relationship Type="http://schemas.openxmlformats.org/officeDocument/2006/relationships/notesSlide" Target="/ppt/notesSlides/notesSlide3.xml" Id="R7f05cc73f9424fc1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5bb94d56f2b43d5" /><Relationship Type="http://schemas.openxmlformats.org/officeDocument/2006/relationships/notesSlide" Target="/ppt/notesSlides/notesSlide4.xml" Id="Rfbff5468a9394295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e3f071bc5cb46f1" /><Relationship Type="http://schemas.openxmlformats.org/officeDocument/2006/relationships/notesSlide" Target="/ppt/notesSlides/notesSlide5.xml" Id="R6707f8887e21480c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7b068ae0c0b4291" /><Relationship Type="http://schemas.openxmlformats.org/officeDocument/2006/relationships/notesSlide" Target="/ppt/notesSlides/notesSlide6.xml" Id="R08dfe2629758471d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b38df7160ca44b5" /><Relationship Type="http://schemas.openxmlformats.org/officeDocument/2006/relationships/notesSlide" Target="/ppt/notesSlides/notesSlide7.xml" Id="R6dd66f3cf018429d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47228fc14ba46ea" /><Relationship Type="http://schemas.openxmlformats.org/officeDocument/2006/relationships/notesSlide" Target="/ppt/notesSlides/notesSlide8.xml" Id="R2a969f97b54a494b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a67b345b48b4835" /><Relationship Type="http://schemas.openxmlformats.org/officeDocument/2006/relationships/notesSlide" Target="/ppt/notesSlides/notesSlide9.xml" Id="Rf8f0497451864610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6d093bf92534aa7" /><Relationship Type="http://schemas.openxmlformats.org/officeDocument/2006/relationships/notesSlide" Target="/ppt/notesSlides/notesSlide10.xml" Id="Rbabe65e68e94484b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6eb9c1c3d3440cb" /><Relationship Type="http://schemas.openxmlformats.org/officeDocument/2006/relationships/notesSlide" Target="/ppt/notesSlides/notesSlide11.xml" Id="R0235ea79917b40b7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11DDCF2-1D65-4A94-9983-0C6A69EE7E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70A12"/>
              </a:gs>
              <a:gs pos="50000">
                <a:srgbClr val="0F172A"/>
              </a:gs>
              <a:gs pos="100000">
                <a:srgbClr val="07111F"/>
              </a:gs>
            </a:gsLst>
            <a:lin ang="8100000"/>
          </a:gra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CB87EB9-8316-4CF1-83E5-BAEF5A6C07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143000" y="-1143000"/>
            <a:ext cx="4191000" cy="419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D9488">
              <a:alpha val="2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6288FDE-571C-47D8-A8CD-8AFF8E0C1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-1047750"/>
            <a:ext cx="4000500" cy="400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284C7">
              <a:alpha val="2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3D36122-C6D4-437B-A25E-F6E9B7989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04850"/>
            <a:ext cx="3429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DD4B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2DD4BF"/>
                </a:solidFill>
                <a:latin typeface="Aptos"/>
                <a:ea typeface="Aptos"/>
                <a:cs typeface="Aptos"/>
              </a:rPr>
              <a:t>FRONTEND PRESENTATION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68D7ADD-031C-469C-BBCC-4931F2295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8001000" cy="1581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4650" b="1">
                <a:solidFill>
                  <a:srgbClr val="F8FAFC"/>
                </a:solidFill>
                <a:latin typeface="Aptos Display"/>
                <a:ea typeface="Aptos Display"/>
                <a:cs typeface="Aptos Display"/>
              </a:defRPr>
            </a:pPr>
            <a:r>
              <a:rPr sz="4650" b="1">
                <a:solidFill>
                  <a:srgbClr val="F8FAFC"/>
                </a:solidFill>
                <a:latin typeface="Aptos Display"/>
                <a:ea typeface="Aptos Display"/>
                <a:cs typeface="Aptos Display"/>
              </a:rPr>
              <a:t>AI Resume Intelligence Dashboard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B492BC6-F4F6-46D5-B3B7-50ED848E46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105150"/>
            <a:ext cx="7239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CBD5E1"/>
                </a:solidFill>
                <a:latin typeface="Aptos"/>
                <a:ea typeface="Aptos"/>
                <a:cs typeface="Aptos"/>
              </a:rPr>
              <a:t>A modern SaaS-style frontend for resume analysis, built with Next.js App Router, React, TypeScript, Tailwind CSS, reusable UI components, and dashboard analytics.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A065952-DBD0-40B7-9356-73075550D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400550"/>
            <a:ext cx="1790700" cy="3048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2DD4BF">
              <a:alpha val="13333"/>
            </a:srgbClr>
          </a:solidFill>
          <a:ln xmlns:a="http://schemas.openxmlformats.org/drawingml/2006/main" w="9525">
            <a:solidFill>
              <a:srgbClr val="2DD4BF">
                <a:alpha val="53333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5BD90DD-EDBA-45D8-A413-BB4D5EA7FC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476750"/>
            <a:ext cx="16002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Next.js App Router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A81FF38-F28A-4811-B35A-0754CDC2B9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4400550"/>
            <a:ext cx="1695450" cy="3048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38BDF8">
              <a:alpha val="13333"/>
            </a:srgbClr>
          </a:solidFill>
          <a:ln xmlns:a="http://schemas.openxmlformats.org/drawingml/2006/main" w="9525">
            <a:solidFill>
              <a:srgbClr val="38BDF8">
                <a:alpha val="53333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807401F-EEB6-47EC-9476-D99B005F7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4476750"/>
            <a:ext cx="15049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React Components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3F25099-31E1-4D28-88D4-F9EE4A5371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4400550"/>
            <a:ext cx="1428750" cy="3048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34D399">
              <a:alpha val="13333"/>
            </a:srgbClr>
          </a:solidFill>
          <a:ln xmlns:a="http://schemas.openxmlformats.org/drawingml/2006/main" w="9525">
            <a:solidFill>
              <a:srgbClr val="34D399">
                <a:alpha val="53333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41FED72-83C9-4F4B-98F5-4144B37F10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4476750"/>
            <a:ext cx="1238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Tailwind CSS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72B5292-7510-4577-89C0-D415015E46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4400550"/>
            <a:ext cx="1104900" cy="3048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BBF24">
              <a:alpha val="13333"/>
            </a:srgbClr>
          </a:solidFill>
          <a:ln xmlns:a="http://schemas.openxmlformats.org/drawingml/2006/main" w="9525">
            <a:solidFill>
              <a:srgbClr val="FBBF24">
                <a:alpha val="53333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E9F7CAE-DE60-43B6-9B42-4C61291890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4476750"/>
            <a:ext cx="9144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Recharts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36E0F15-5E58-497B-847E-25836BF5CD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1104900"/>
            <a:ext cx="3028950" cy="3638550"/>
          </a:xfrm>
          <a:prstGeom xmlns:a="http://schemas.openxmlformats.org/drawingml/2006/main" prst="roundRect">
            <a:avLst>
              <a:gd name="adj" fmla="val 2516"/>
            </a:avLst>
          </a:prstGeom>
          <a:solidFill xmlns:a="http://schemas.openxmlformats.org/drawingml/2006/main">
            <a:srgbClr val="0B1220">
              <a:alpha val="86667"/>
            </a:srgbClr>
          </a:solidFill>
          <a:ln xmlns:a="http://schemas.openxmlformats.org/drawingml/2006/main" w="9525">
            <a:solidFill>
              <a:srgbClr val="334155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FE2F013-049F-4FD6-B95B-F89444802C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1409700"/>
            <a:ext cx="22479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Dashboard Preview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3874EE4-58EC-4D29-937D-50676164E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1943100"/>
            <a:ext cx="1238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CBD5E1"/>
                </a:solidFill>
                <a:latin typeface="Aptos"/>
                <a:ea typeface="Aptos"/>
                <a:cs typeface="Aptos"/>
              </a:rPr>
              <a:t>ATS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D64E58C-524B-4FDE-8880-E0FD7D6968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1943100"/>
            <a:ext cx="4191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DD4B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2DD4BF"/>
                </a:solidFill>
                <a:latin typeface="Aptos"/>
                <a:ea typeface="Aptos"/>
                <a:cs typeface="Aptos"/>
              </a:rPr>
              <a:t>82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360D416-BD2F-4846-931A-21784DC769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2228850"/>
            <a:ext cx="207645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D2B52BB-553A-49F4-B633-53823E875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2228850"/>
            <a:ext cx="1702689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DD4B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7DAF2C0-5283-48E5-ADEC-C1F1418CD0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2552700"/>
            <a:ext cx="1238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CBD5E1"/>
                </a:solidFill>
                <a:latin typeface="Aptos"/>
                <a:ea typeface="Aptos"/>
                <a:cs typeface="Aptos"/>
              </a:rPr>
              <a:t>Frontend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C621F1D-8663-4850-80AD-758813B81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2552700"/>
            <a:ext cx="4191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8BDF8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38BDF8"/>
                </a:solidFill>
                <a:latin typeface="Aptos"/>
                <a:ea typeface="Aptos"/>
                <a:cs typeface="Aptos"/>
              </a:rPr>
              <a:t>86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2686E97-B4B0-4447-9585-EE4C940CE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2838450"/>
            <a:ext cx="207645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84ACB0C-063E-4EFE-A172-704C02942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2838450"/>
            <a:ext cx="1785747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8BDF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2EC47D6-A15B-4431-83F6-85006552FD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3162300"/>
            <a:ext cx="1238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CBD5E1"/>
                </a:solidFill>
                <a:latin typeface="Aptos"/>
                <a:ea typeface="Aptos"/>
                <a:cs typeface="Aptos"/>
              </a:rPr>
              <a:t>Backend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EE2239E-9389-4E14-A2E6-14C1931AD7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3162300"/>
            <a:ext cx="4191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4D399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34D399"/>
                </a:solidFill>
                <a:latin typeface="Aptos"/>
                <a:ea typeface="Aptos"/>
                <a:cs typeface="Aptos"/>
              </a:rPr>
              <a:t>71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0ABE47D-BF2C-453A-967B-A203ADECD7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3448050"/>
            <a:ext cx="207645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46D352B-6C16-4EEF-9740-89571B5975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3448050"/>
            <a:ext cx="147428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4D39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3B9F34F-D9E2-482B-96D2-DF96E40C85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3771900"/>
            <a:ext cx="1238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CBD5E1"/>
                </a:solidFill>
                <a:latin typeface="Aptos"/>
                <a:ea typeface="Aptos"/>
                <a:cs typeface="Aptos"/>
              </a:rPr>
              <a:t>Readiness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5817578-1CA4-40E5-BEFA-F20462778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3771900"/>
            <a:ext cx="4191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BBF24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BBF24"/>
                </a:solidFill>
                <a:latin typeface="Aptos"/>
                <a:ea typeface="Aptos"/>
                <a:cs typeface="Aptos"/>
              </a:rPr>
              <a:t>78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252FB22-B284-4AA6-A2FC-6ABA81F493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4057650"/>
            <a:ext cx="207645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3EF6E31-B5D1-4FC0-9067-9EEE70426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4057650"/>
            <a:ext cx="1619631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BBF2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DA829BA-793D-48D0-A55C-8F509CCB26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6667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94A3B8"/>
                </a:solidFill>
                <a:latin typeface="Aptos"/>
                <a:ea typeface="Aptos"/>
                <a:cs typeface="Aptos"/>
              </a:rPr>
              <a:t>AI Resume Intelligence Dashboard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9594795-6684-48F1-A3E1-CE999599B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43650"/>
            <a:ext cx="5334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94A3B8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2041056727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502D7BE-84F6-4F12-B6FA-EB01E6ED71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70A12"/>
              </a:gs>
              <a:gs pos="50000">
                <a:srgbClr val="0F172A"/>
              </a:gs>
              <a:gs pos="100000">
                <a:srgbClr val="07111F"/>
              </a:gs>
            </a:gsLst>
            <a:lin ang="8100000"/>
          </a:gra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A6FFC4C-DEF6-4FF9-BD66-51ADEC936A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143000" y="-1143000"/>
            <a:ext cx="4191000" cy="419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D9488">
              <a:alpha val="2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EBA3549-AFF6-4E9A-AD48-C5C7A29E7A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-1047750"/>
            <a:ext cx="4000500" cy="400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284C7">
              <a:alpha val="2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8ADED1A-42D4-4C90-B66F-936E273FE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19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DD4B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05B055B-4DB8-4CB3-8FA3-67B9438AF6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14350"/>
            <a:ext cx="5334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DD4B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DD4BF"/>
                </a:solidFill>
                <a:latin typeface="Aptos"/>
                <a:ea typeface="Aptos"/>
                <a:cs typeface="Aptos"/>
              </a:rPr>
              <a:t>INTRO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8BE9165-FA9B-486B-81DA-86E9B7685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76300"/>
            <a:ext cx="87630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F8FAFC"/>
                </a:solidFill>
                <a:latin typeface="Aptos Display"/>
                <a:ea typeface="Aptos Display"/>
                <a:cs typeface="Aptos Display"/>
              </a:defRPr>
            </a:pPr>
            <a:r>
              <a:rPr sz="3300" b="1">
                <a:solidFill>
                  <a:srgbClr val="F8FAFC"/>
                </a:solidFill>
                <a:latin typeface="Aptos Display"/>
                <a:ea typeface="Aptos Display"/>
                <a:cs typeface="Aptos Display"/>
              </a:rPr>
              <a:t>The frontend turns resume analysis into a simple guided experience.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25D96E1-7106-4690-9F68-03865CEE7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381250"/>
            <a:ext cx="3333750" cy="2381250"/>
          </a:xfrm>
          <a:prstGeom xmlns:a="http://schemas.openxmlformats.org/drawingml/2006/main" prst="roundRect">
            <a:avLst>
              <a:gd name="adj" fmla="val 3200"/>
            </a:avLst>
          </a:prstGeom>
          <a:solidFill xmlns:a="http://schemas.openxmlformats.org/drawingml/2006/main">
            <a:srgbClr val="0B1220">
              <a:alpha val="86667"/>
            </a:srgbClr>
          </a:solidFill>
          <a:ln xmlns:a="http://schemas.openxmlformats.org/drawingml/2006/main" w="9525">
            <a:solidFill>
              <a:srgbClr val="334155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181F396-60E1-4926-9CAF-81AAF37A4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705100"/>
            <a:ext cx="2667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1. Enter resume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530FE2C-3E9F-4BA0-A3AF-CB3372F094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3909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DD4B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547B486-C5E6-44F9-B3DE-57A4CA3AE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314700"/>
            <a:ext cx="2476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CBD5E1"/>
                </a:solidFill>
                <a:latin typeface="Aptos"/>
                <a:ea typeface="Aptos"/>
                <a:cs typeface="Aptos"/>
              </a:rPr>
              <a:t>Paste resume text or upload a text-based PDF.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E285821-6064-4C22-97A0-3B68437BB4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2381250"/>
            <a:ext cx="3333750" cy="2381250"/>
          </a:xfrm>
          <a:prstGeom xmlns:a="http://schemas.openxmlformats.org/drawingml/2006/main" prst="roundRect">
            <a:avLst>
              <a:gd name="adj" fmla="val 3200"/>
            </a:avLst>
          </a:prstGeom>
          <a:solidFill xmlns:a="http://schemas.openxmlformats.org/drawingml/2006/main">
            <a:srgbClr val="0B1220">
              <a:alpha val="86667"/>
            </a:srgbClr>
          </a:solidFill>
          <a:ln xmlns:a="http://schemas.openxmlformats.org/drawingml/2006/main" w="9525">
            <a:solidFill>
              <a:srgbClr val="334155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7DE8AF0-6C22-4464-B295-ACE0DACA66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2705100"/>
            <a:ext cx="2667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2. Generate analysis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A42D697-5990-441C-A63A-EEC558BA4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33925" y="33909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8BDF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594589A-562A-4D54-9FD2-F98B532BE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24425" y="3314700"/>
            <a:ext cx="2476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CBD5E1"/>
                </a:solidFill>
                <a:latin typeface="Aptos"/>
                <a:ea typeface="Aptos"/>
                <a:cs typeface="Aptos"/>
              </a:rPr>
              <a:t>A loading state confirms the app is processing.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2AA3B90-B0D7-45A8-80EC-3ACB96D915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381250"/>
            <a:ext cx="3333750" cy="2381250"/>
          </a:xfrm>
          <a:prstGeom xmlns:a="http://schemas.openxmlformats.org/drawingml/2006/main" prst="roundRect">
            <a:avLst>
              <a:gd name="adj" fmla="val 3200"/>
            </a:avLst>
          </a:prstGeom>
          <a:solidFill xmlns:a="http://schemas.openxmlformats.org/drawingml/2006/main">
            <a:srgbClr val="0B1220">
              <a:alpha val="86667"/>
            </a:srgbClr>
          </a:solidFill>
          <a:ln xmlns:a="http://schemas.openxmlformats.org/drawingml/2006/main" w="9525">
            <a:solidFill>
              <a:srgbClr val="334155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A44E99B-8E95-4176-83CB-363890307E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705100"/>
            <a:ext cx="2667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3. View insights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8C429AD-AA9F-45AD-A8A3-41512D5D8F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33909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BBF2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FEF6579-6C34-4B67-A099-5EBB8E2540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3314700"/>
            <a:ext cx="2476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CBD5E1"/>
                </a:solidFill>
                <a:latin typeface="Aptos"/>
                <a:ea typeface="Aptos"/>
                <a:cs typeface="Aptos"/>
              </a:rPr>
              <a:t>Scores, charts, skills, gaps, and recommendations appear dynamically.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20B684A-62F2-4419-9B6F-871F07E216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6667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94A3B8"/>
                </a:solidFill>
                <a:latin typeface="Aptos"/>
                <a:ea typeface="Aptos"/>
                <a:cs typeface="Aptos"/>
              </a:rPr>
              <a:t>AI Resume Intelligence Dashboard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B50AFCE-642E-4EFF-8A86-80048BF66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43650"/>
            <a:ext cx="5334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94A3B8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348707688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8162748-5A11-4608-8AE9-6789A8DDD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70A12"/>
              </a:gs>
              <a:gs pos="50000">
                <a:srgbClr val="0F172A"/>
              </a:gs>
              <a:gs pos="100000">
                <a:srgbClr val="07111F"/>
              </a:gs>
            </a:gsLst>
            <a:lin ang="8100000"/>
          </a:gra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DA71AC9-0D32-455B-B7E8-75D93A335D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143000" y="-1143000"/>
            <a:ext cx="4191000" cy="419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D9488">
              <a:alpha val="2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72D4B8F-92A0-45D7-8750-231906E505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-1047750"/>
            <a:ext cx="4000500" cy="400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284C7">
              <a:alpha val="2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9D663F6-12C8-4A92-97EC-9CF6F7BB2B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19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DD4B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4B3FEDB-87A3-4993-979D-BECE99E42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14350"/>
            <a:ext cx="5334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DD4B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DD4BF"/>
                </a:solidFill>
                <a:latin typeface="Aptos"/>
                <a:ea typeface="Aptos"/>
                <a:cs typeface="Aptos"/>
              </a:rPr>
              <a:t>ABSTRACT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09CE8DB-F807-41E6-85B9-83BBF5D540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76300"/>
            <a:ext cx="91440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F8FAFC"/>
                </a:solidFill>
                <a:latin typeface="Aptos Display"/>
                <a:ea typeface="Aptos Display"/>
                <a:cs typeface="Aptos Display"/>
              </a:defRPr>
            </a:pPr>
            <a:r>
              <a:rPr sz="3150" b="1">
                <a:solidFill>
                  <a:srgbClr val="F8FAFC"/>
                </a:solidFill>
                <a:latin typeface="Aptos Display"/>
                <a:ea typeface="Aptos Display"/>
                <a:cs typeface="Aptos Display"/>
              </a:rPr>
              <a:t>A dashboard interface that makes resume feedback visual, fast, and easy to explain.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37F0EA9-E918-40C9-838A-6CAF42D495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52650"/>
            <a:ext cx="6572250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CBD5E1"/>
                </a:solidFill>
                <a:latin typeface="Aptos"/>
                <a:ea typeface="Aptos"/>
                <a:cs typeface="Aptos"/>
              </a:rPr>
              <a:t>The frontend presents an intelligent resume analysis workflow through a polished SaaS-style dashboard. It organizes complex output into score cards, charts, recommendation panels, skill badges, and report history.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B4722BA-4963-460B-BA1B-AC768474D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2038350"/>
            <a:ext cx="3333750" cy="2952750"/>
          </a:xfrm>
          <a:prstGeom xmlns:a="http://schemas.openxmlformats.org/drawingml/2006/main" prst="roundRect">
            <a:avLst>
              <a:gd name="adj" fmla="val 2581"/>
            </a:avLst>
          </a:prstGeom>
          <a:solidFill xmlns:a="http://schemas.openxmlformats.org/drawingml/2006/main">
            <a:srgbClr val="0B1220">
              <a:alpha val="86667"/>
            </a:srgbClr>
          </a:solidFill>
          <a:ln xmlns:a="http://schemas.openxmlformats.org/drawingml/2006/main" w="9525">
            <a:solidFill>
              <a:srgbClr val="334155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FA4426F-2696-46BD-B1FB-38C61B112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381250"/>
            <a:ext cx="2667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Frontend responsibilities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E0B8EA3-943F-4269-8DDE-0D708BE91A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30861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DD4B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A62636B-E8ED-48D6-932A-447FB6A78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3009900"/>
            <a:ext cx="41910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CBD5E1"/>
                </a:solidFill>
                <a:latin typeface="Aptos"/>
                <a:ea typeface="Aptos"/>
                <a:cs typeface="Aptos"/>
              </a:rPr>
              <a:t>Capture user input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CE89BFF-2961-4603-A474-9B7BD220C8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36385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8BDF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C613F08-4545-4CB1-AE68-6F97FF8AE3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3562350"/>
            <a:ext cx="41910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CBD5E1"/>
                </a:solidFill>
                <a:latin typeface="Aptos"/>
                <a:ea typeface="Aptos"/>
                <a:cs typeface="Aptos"/>
              </a:rPr>
              <a:t>Show loading and errors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E44C7F7-5440-41DA-ACC3-793682DAA2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41910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BBF2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D4DE8C7-3904-4BC8-B89B-DF884C286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4114800"/>
            <a:ext cx="41910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CBD5E1"/>
                </a:solidFill>
                <a:latin typeface="Aptos"/>
                <a:ea typeface="Aptos"/>
                <a:cs typeface="Aptos"/>
              </a:rPr>
              <a:t>Render API response visually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125954C-AE75-44D7-BA54-D59F0BAFB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6667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94A3B8"/>
                </a:solidFill>
                <a:latin typeface="Aptos"/>
                <a:ea typeface="Aptos"/>
                <a:cs typeface="Aptos"/>
              </a:rPr>
              <a:t>AI Resume Intelligence Dashboard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2C430DB-D8C2-441A-9C5F-80F821D65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43650"/>
            <a:ext cx="5334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94A3B8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874725810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1E1F3D5-AC65-46C7-B3CF-45B182BF63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70A12"/>
              </a:gs>
              <a:gs pos="50000">
                <a:srgbClr val="0F172A"/>
              </a:gs>
              <a:gs pos="100000">
                <a:srgbClr val="07111F"/>
              </a:gs>
            </a:gsLst>
            <a:lin ang="8100000"/>
          </a:gra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C84C35B-17E6-4736-8F3F-0F4C9F349C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143000" y="-1143000"/>
            <a:ext cx="4191000" cy="419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D9488">
              <a:alpha val="2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2A646EF-3142-453F-8B10-DCBCC55EFD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-1047750"/>
            <a:ext cx="4000500" cy="400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284C7">
              <a:alpha val="2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BE4AD3E-2C05-426C-8954-F763C8FFD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19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DD4B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DF6913E-FE03-40F6-9799-CBFDEF1EDB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14350"/>
            <a:ext cx="5334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DD4B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DD4BF"/>
                </a:solidFill>
                <a:latin typeface="Aptos"/>
                <a:ea typeface="Aptos"/>
                <a:cs typeface="Aptos"/>
              </a:rPr>
              <a:t>PROBLEM STATEMENT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52F13D0-D143-439C-808A-9C59E3EDC7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76300"/>
            <a:ext cx="95250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F8FAFC"/>
                </a:solidFill>
                <a:latin typeface="Aptos Display"/>
                <a:ea typeface="Aptos Display"/>
                <a:cs typeface="Aptos Display"/>
              </a:defRPr>
            </a:pPr>
            <a:r>
              <a:rPr sz="3150" b="1">
                <a:solidFill>
                  <a:srgbClr val="F8FAFC"/>
                </a:solidFill>
                <a:latin typeface="Aptos Display"/>
                <a:ea typeface="Aptos Display"/>
                <a:cs typeface="Aptos Display"/>
              </a:rPr>
              <a:t>Students need resume feedback, but raw analysis is hard to understand without a clear interface.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C4A147C-22BC-4C6B-94C9-E9433599FD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381250"/>
            <a:ext cx="4857750" cy="2724150"/>
          </a:xfrm>
          <a:prstGeom xmlns:a="http://schemas.openxmlformats.org/drawingml/2006/main" prst="roundRect">
            <a:avLst>
              <a:gd name="adj" fmla="val 2797"/>
            </a:avLst>
          </a:prstGeom>
          <a:solidFill xmlns:a="http://schemas.openxmlformats.org/drawingml/2006/main">
            <a:srgbClr val="0B1220">
              <a:alpha val="86667"/>
            </a:srgbClr>
          </a:solidFill>
          <a:ln xmlns:a="http://schemas.openxmlformats.org/drawingml/2006/main" w="9525">
            <a:solidFill>
              <a:srgbClr val="334155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DF6EAF7-EC53-43EC-AB7D-CCEB58EBD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724150"/>
            <a:ext cx="3905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FB7185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FB7185"/>
                </a:solidFill>
                <a:latin typeface="Aptos"/>
                <a:ea typeface="Aptos"/>
                <a:cs typeface="Aptos"/>
              </a:rPr>
              <a:t>User problem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739FEFD-E7AF-4C1C-9390-D2781E575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4480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B718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F182ED9-1DE8-4D52-9291-FD965CD4FD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3371850"/>
            <a:ext cx="3714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CBD5E1"/>
                </a:solidFill>
                <a:latin typeface="Aptos"/>
                <a:ea typeface="Aptos"/>
                <a:cs typeface="Aptos"/>
              </a:rPr>
              <a:t>Candidates do not know which technical skills are visible in their resume.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02513EE-B974-43AC-8D07-685B580E63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1338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B718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1893C4A-BA53-42EE-88B0-6DFC4E59DC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4057650"/>
            <a:ext cx="3714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CBD5E1"/>
                </a:solidFill>
                <a:latin typeface="Aptos"/>
                <a:ea typeface="Aptos"/>
                <a:cs typeface="Aptos"/>
              </a:rPr>
              <a:t>Resume quality is difficult to judge from plain text alone.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7603C0D-5D72-4ED8-AC0A-8530E7AA1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381250"/>
            <a:ext cx="4857750" cy="2724150"/>
          </a:xfrm>
          <a:prstGeom xmlns:a="http://schemas.openxmlformats.org/drawingml/2006/main" prst="roundRect">
            <a:avLst>
              <a:gd name="adj" fmla="val 2797"/>
            </a:avLst>
          </a:prstGeom>
          <a:solidFill xmlns:a="http://schemas.openxmlformats.org/drawingml/2006/main">
            <a:srgbClr val="0B1220">
              <a:alpha val="86667"/>
            </a:srgbClr>
          </a:solidFill>
          <a:ln xmlns:a="http://schemas.openxmlformats.org/drawingml/2006/main" w="9525">
            <a:solidFill>
              <a:srgbClr val="334155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9729DD6-989E-4FB4-8A8E-A34AD0E02E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2724150"/>
            <a:ext cx="3905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2DD4BF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2DD4BF"/>
                </a:solidFill>
                <a:latin typeface="Aptos"/>
                <a:ea typeface="Aptos"/>
                <a:cs typeface="Aptos"/>
              </a:rPr>
              <a:t>Frontend solution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56A66F1-27AF-4BC3-B375-B85CE1B446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34480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DD4B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474A925-D1DD-4C74-8007-911BEE23F1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3371850"/>
            <a:ext cx="3714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CBD5E1"/>
                </a:solidFill>
                <a:latin typeface="Aptos"/>
                <a:ea typeface="Aptos"/>
                <a:cs typeface="Aptos"/>
              </a:rPr>
              <a:t>Convert analysis data into readable score cards, charts and sections.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835C599-42B1-4038-9896-FBBEB53FA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41338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DD4B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8404E28-421B-4D13-B439-21711351D1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4057650"/>
            <a:ext cx="3714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CBD5E1"/>
                </a:solidFill>
                <a:latin typeface="Aptos"/>
                <a:ea typeface="Aptos"/>
                <a:cs typeface="Aptos"/>
              </a:rPr>
              <a:t>Guide the user through upload, processing, result and history states.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C3CAD9B-1A8C-4E95-9DDC-93DDFB2A36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6667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94A3B8"/>
                </a:solidFill>
                <a:latin typeface="Aptos"/>
                <a:ea typeface="Aptos"/>
                <a:cs typeface="Aptos"/>
              </a:rPr>
              <a:t>AI Resume Intelligence Dashboard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9A1E63E-175C-4BAE-BCFF-095A8D3F6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43650"/>
            <a:ext cx="5334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94A3B8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735505038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D3771F4-42D3-4FD2-9DB7-961DCE1C98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70A12"/>
              </a:gs>
              <a:gs pos="50000">
                <a:srgbClr val="0F172A"/>
              </a:gs>
              <a:gs pos="100000">
                <a:srgbClr val="07111F"/>
              </a:gs>
            </a:gsLst>
            <a:lin ang="8100000"/>
          </a:gra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CBBA054-98CD-4B7D-8908-FA46B82CC9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143000" y="-1143000"/>
            <a:ext cx="4191000" cy="419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D9488">
              <a:alpha val="2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F8F7BAF-A682-4908-820A-DCA65FCF64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-1047750"/>
            <a:ext cx="4000500" cy="400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284C7">
              <a:alpha val="2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9DACB58-2461-431A-957A-DA29C85718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19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DD4B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829D6CA-2408-450F-98A1-861271CF0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14350"/>
            <a:ext cx="5334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DD4B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DD4BF"/>
                </a:solidFill>
                <a:latin typeface="Aptos"/>
                <a:ea typeface="Aptos"/>
                <a:cs typeface="Aptos"/>
              </a:rPr>
              <a:t>FRONTEND ARCHITECTURE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46464FC-315D-4630-9B81-B64FF091FD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76300"/>
            <a:ext cx="93345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F8FAFC"/>
                </a:solidFill>
                <a:latin typeface="Aptos Display"/>
                <a:ea typeface="Aptos Display"/>
                <a:cs typeface="Aptos Display"/>
              </a:defRPr>
            </a:pPr>
            <a:r>
              <a:rPr sz="3150" b="1">
                <a:solidFill>
                  <a:srgbClr val="F8FAFC"/>
                </a:solidFill>
                <a:latin typeface="Aptos Display"/>
                <a:ea typeface="Aptos Display"/>
                <a:cs typeface="Aptos Display"/>
              </a:rPr>
              <a:t>The UI is built as reusable React components connected by page-level routing.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973038A-4043-4F8F-9C06-9AB8E9524A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305050"/>
            <a:ext cx="285750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0B1220">
              <a:alpha val="86667"/>
            </a:srgbClr>
          </a:solidFill>
          <a:ln xmlns:a="http://schemas.openxmlformats.org/drawingml/2006/main" w="9525">
            <a:solidFill>
              <a:srgbClr val="334155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C57823C-EEF7-4CCA-8F5E-79CA57BDB4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5146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DD4B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8CAADC6-05AA-4A45-ABE9-E8E54B5733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476500"/>
            <a:ext cx="2190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App Router pages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AF665E2-75DB-4A55-AB32-C2FEB9606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819400"/>
            <a:ext cx="2190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94A3B8"/>
                </a:solidFill>
                <a:latin typeface="Aptos"/>
                <a:ea typeface="Aptos"/>
                <a:cs typeface="Aptos"/>
              </a:rPr>
              <a:t>Landing, login, signup, dashboard, profile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D28F554-0122-45E3-A62D-7B3463FDED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305050"/>
            <a:ext cx="285750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0B1220">
              <a:alpha val="86667"/>
            </a:srgbClr>
          </a:solidFill>
          <a:ln xmlns:a="http://schemas.openxmlformats.org/drawingml/2006/main" w="9525">
            <a:solidFill>
              <a:srgbClr val="334155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9D4CC87-CEA5-45F6-B821-CE487EE79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25146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8BDF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0E93D6A-21A9-4337-8879-45D5657A9E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2476500"/>
            <a:ext cx="2190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Reusable UI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B8E253C-542A-46D9-AB93-6B7080FA2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2819400"/>
            <a:ext cx="2190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94A3B8"/>
                </a:solidFill>
                <a:latin typeface="Aptos"/>
                <a:ea typeface="Aptos"/>
                <a:cs typeface="Aptos"/>
              </a:rPr>
              <a:t>Button, Card, Input, Textarea, Badge, Progress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E047BDA-877A-4D0B-9573-1F88FD3893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2305050"/>
            <a:ext cx="285750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0B1220">
              <a:alpha val="86667"/>
            </a:srgbClr>
          </a:solidFill>
          <a:ln xmlns:a="http://schemas.openxmlformats.org/drawingml/2006/main" w="9525">
            <a:solidFill>
              <a:srgbClr val="334155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BABE604-1951-42CB-BB01-CE8100B27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25146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BBF2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00855F0-8DE7-43B7-9F16-31CF55815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2476500"/>
            <a:ext cx="2190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Dashboard logic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DEBE8FB-6F83-4D72-8F92-41F106F5F5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2819400"/>
            <a:ext cx="2190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94A3B8"/>
                </a:solidFill>
                <a:latin typeface="Aptos"/>
                <a:ea typeface="Aptos"/>
                <a:cs typeface="Aptos"/>
              </a:rPr>
              <a:t>Resume form, reports state, conditional rendering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CC13B90-271A-49E2-9BCC-C779699471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4171950"/>
            <a:ext cx="285750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0B1220">
              <a:alpha val="86667"/>
            </a:srgbClr>
          </a:solidFill>
          <a:ln xmlns:a="http://schemas.openxmlformats.org/drawingml/2006/main" w="9525">
            <a:solidFill>
              <a:srgbClr val="334155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73EC0E7-5163-4BAB-B5FA-D65110782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43815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4D39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C8051FE-5093-4494-AE54-5F88D63A26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4343400"/>
            <a:ext cx="2190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Charts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6E1E38C-B54B-4BD1-8419-652C405207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4686300"/>
            <a:ext cx="2190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94A3B8"/>
                </a:solidFill>
                <a:latin typeface="Aptos"/>
                <a:ea typeface="Aptos"/>
                <a:cs typeface="Aptos"/>
              </a:rPr>
              <a:t>Recharts bar chart and radar chart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1FD176E-D61E-46CB-9799-EE64BB8427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4171950"/>
            <a:ext cx="285750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0B1220">
              <a:alpha val="86667"/>
            </a:srgbClr>
          </a:solidFill>
          <a:ln xmlns:a="http://schemas.openxmlformats.org/drawingml/2006/main" w="9525">
            <a:solidFill>
              <a:srgbClr val="334155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61B8163-2812-49CF-B03E-B99CDFA71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43815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B718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4232063-AED0-4088-8E92-9D8D6730F8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4343400"/>
            <a:ext cx="2190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Navigation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21A1658-375C-4B2A-AF24-336B1F1508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4686300"/>
            <a:ext cx="2190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94A3B8"/>
                </a:solidFill>
                <a:latin typeface="Aptos"/>
                <a:ea typeface="Aptos"/>
                <a:cs typeface="Aptos"/>
              </a:rPr>
              <a:t>Session-aware header with login, profile, logout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073CA01-2DFD-40F9-84BB-D90C5D1B4F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2819400"/>
            <a:ext cx="10858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7556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CCE22A3-FE28-418E-B4A8-79A60A8B6E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819400"/>
            <a:ext cx="10858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7556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8E2AD6B-963A-460B-8F8F-0A47584C0E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67425" y="3371850"/>
            <a:ext cx="28575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7556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71C2CA4-3294-4801-8F60-4E2D78984C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850" y="4171950"/>
            <a:ext cx="39243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7556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F08FC23-52A8-4C8A-94D9-860878869D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6667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94A3B8"/>
                </a:solidFill>
                <a:latin typeface="Aptos"/>
                <a:ea typeface="Aptos"/>
                <a:cs typeface="Aptos"/>
              </a:rPr>
              <a:t>AI Resume Intelligence Dashboard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3DDC5FD-C59D-4459-8A29-03CE5168A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43650"/>
            <a:ext cx="5334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94A3B8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812275398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8AF1C55-9EED-4F0B-9135-12750ACB4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70A12"/>
              </a:gs>
              <a:gs pos="50000">
                <a:srgbClr val="0F172A"/>
              </a:gs>
              <a:gs pos="100000">
                <a:srgbClr val="07111F"/>
              </a:gs>
            </a:gsLst>
            <a:lin ang="8100000"/>
          </a:gra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DAA3EDB-D5A0-4904-B6FC-5171C9D5B9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143000" y="-1143000"/>
            <a:ext cx="4191000" cy="419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D9488">
              <a:alpha val="2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57D0951-800A-4F13-A096-1C45050E26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-1047750"/>
            <a:ext cx="4000500" cy="400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284C7">
              <a:alpha val="2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920E232-30BB-43F0-A8C6-B621743B3E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19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DD4B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889555F-39AB-4F5F-9D33-4C086113D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14350"/>
            <a:ext cx="5334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DD4B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DD4BF"/>
                </a:solidFill>
                <a:latin typeface="Aptos"/>
                <a:ea typeface="Aptos"/>
                <a:cs typeface="Aptos"/>
              </a:rPr>
              <a:t>HOW THE FRONTEND IS BUILT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EC8F435-CF9F-436E-9D25-281EDB3347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76300"/>
            <a:ext cx="89535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F8FAFC"/>
                </a:solidFill>
                <a:latin typeface="Aptos Display"/>
                <a:ea typeface="Aptos Display"/>
                <a:cs typeface="Aptos Display"/>
              </a:defRPr>
            </a:pPr>
            <a:r>
              <a:rPr sz="3300" b="1">
                <a:solidFill>
                  <a:srgbClr val="F8FAFC"/>
                </a:solidFill>
                <a:latin typeface="Aptos Display"/>
                <a:ea typeface="Aptos Display"/>
                <a:cs typeface="Aptos Display"/>
              </a:rPr>
              <a:t>React state drives the complete user interaction flow.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4C82803-BCCE-4547-AC8B-245161406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90750"/>
            <a:ext cx="3333750" cy="2857500"/>
          </a:xfrm>
          <a:prstGeom xmlns:a="http://schemas.openxmlformats.org/drawingml/2006/main" prst="roundRect">
            <a:avLst>
              <a:gd name="adj" fmla="val 2667"/>
            </a:avLst>
          </a:prstGeom>
          <a:solidFill xmlns:a="http://schemas.openxmlformats.org/drawingml/2006/main">
            <a:srgbClr val="0B1220">
              <a:alpha val="86667"/>
            </a:srgbClr>
          </a:solidFill>
          <a:ln xmlns:a="http://schemas.openxmlformats.org/drawingml/2006/main" w="9525">
            <a:solidFill>
              <a:srgbClr val="334155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638C1A9-B3F7-40BC-874F-F0ED3CF316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533650"/>
            <a:ext cx="2667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Forms and state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6747394-3A34-4D69-AD4B-E717AB5E8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2194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DD4B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253E42A-3254-4596-9BAC-FE10D899B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143250"/>
            <a:ext cx="26289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CBD5E1"/>
                </a:solidFill>
                <a:latin typeface="Aptos"/>
                <a:ea typeface="Aptos"/>
                <a:cs typeface="Aptos"/>
              </a:rPr>
              <a:t>useState stores resume text, selected PDF, loading, errors, and reports.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A6D9A59-72E3-42D0-B8D8-81B822BEF8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1910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DD4B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0821F82-E432-472A-82D3-8EC1F62A6C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114800"/>
            <a:ext cx="26289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CBD5E1"/>
                </a:solidFill>
                <a:latin typeface="Aptos"/>
                <a:ea typeface="Aptos"/>
                <a:cs typeface="Aptos"/>
              </a:rPr>
              <a:t>Submit handlers send user input with fetch.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FA73F90-C5F3-4E4E-AA31-5501969639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2190750"/>
            <a:ext cx="3333750" cy="2857500"/>
          </a:xfrm>
          <a:prstGeom xmlns:a="http://schemas.openxmlformats.org/drawingml/2006/main" prst="roundRect">
            <a:avLst>
              <a:gd name="adj" fmla="val 2667"/>
            </a:avLst>
          </a:prstGeom>
          <a:solidFill xmlns:a="http://schemas.openxmlformats.org/drawingml/2006/main">
            <a:srgbClr val="0B1220">
              <a:alpha val="86667"/>
            </a:srgbClr>
          </a:solidFill>
          <a:ln xmlns:a="http://schemas.openxmlformats.org/drawingml/2006/main" w="9525">
            <a:solidFill>
              <a:srgbClr val="334155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E69A88C-EBD6-4196-8D66-8B7E114572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2533650"/>
            <a:ext cx="2667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Dynamic rendering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2CC37EA-883E-4F26-8D55-3217ED640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2194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8BDF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D883A2E-4A72-4DD7-9FEB-79DF4CFEE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3143250"/>
            <a:ext cx="26289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CBD5E1"/>
                </a:solidFill>
                <a:latin typeface="Aptos"/>
                <a:ea typeface="Aptos"/>
                <a:cs typeface="Aptos"/>
              </a:rPr>
              <a:t>Conditional UI shows empty, loading, error, or result states.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BA27EDF-6031-4B60-9E65-5F7F27C6F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41910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8BDF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855E4D9-BF87-4DC8-BB60-9A726E5F10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4114800"/>
            <a:ext cx="26289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CBD5E1"/>
                </a:solidFill>
                <a:latin typeface="Aptos"/>
                <a:ea typeface="Aptos"/>
                <a:cs typeface="Aptos"/>
              </a:rPr>
              <a:t>Reports, skills, and recommendations render using map().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4F20FF7-9631-4DED-A90B-AFB709378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190750"/>
            <a:ext cx="3333750" cy="2857500"/>
          </a:xfrm>
          <a:prstGeom xmlns:a="http://schemas.openxmlformats.org/drawingml/2006/main" prst="roundRect">
            <a:avLst>
              <a:gd name="adj" fmla="val 2667"/>
            </a:avLst>
          </a:prstGeom>
          <a:solidFill xmlns:a="http://schemas.openxmlformats.org/drawingml/2006/main">
            <a:srgbClr val="0B1220">
              <a:alpha val="86667"/>
            </a:srgbClr>
          </a:solidFill>
          <a:ln xmlns:a="http://schemas.openxmlformats.org/drawingml/2006/main" w="9525">
            <a:solidFill>
              <a:srgbClr val="334155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049FBF2-7E38-44C1-B19C-A7D0B925C2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2533650"/>
            <a:ext cx="2667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Presentation layer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F160C7B-92FE-4A18-A1B7-6C61DE6780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32194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BBF2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E6DD842-72F5-4186-9251-546A6D2A0B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3143250"/>
            <a:ext cx="26289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CBD5E1"/>
                </a:solidFill>
                <a:latin typeface="Aptos"/>
                <a:ea typeface="Aptos"/>
                <a:cs typeface="Aptos"/>
              </a:rPr>
              <a:t>Tailwind creates responsive grid layouts and dark SaaS styling.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1A16B53-14CE-449F-9B3A-F054476433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41910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BBF2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2DEA67C-FDE1-44E6-B0A7-C0F829FEA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4114800"/>
            <a:ext cx="26289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CBD5E1"/>
                </a:solidFill>
                <a:latin typeface="Aptos"/>
                <a:ea typeface="Aptos"/>
                <a:cs typeface="Aptos"/>
              </a:rPr>
              <a:t>Recharts turns analysis numbers into visual dashboards.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3A155DE-0B44-4577-80B9-14533B1A26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6667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94A3B8"/>
                </a:solidFill>
                <a:latin typeface="Aptos"/>
                <a:ea typeface="Aptos"/>
                <a:cs typeface="Aptos"/>
              </a:rPr>
              <a:t>AI Resume Intelligence Dashboard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2863CD3-02FE-406B-A4B5-B1EE47591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43650"/>
            <a:ext cx="5334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94A3B8"/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2076943704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190B506-78ED-47F1-BADC-AA1C006EB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70A12"/>
              </a:gs>
              <a:gs pos="50000">
                <a:srgbClr val="0F172A"/>
              </a:gs>
              <a:gs pos="100000">
                <a:srgbClr val="07111F"/>
              </a:gs>
            </a:gsLst>
            <a:lin ang="8100000"/>
          </a:gra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34305CF-A9DA-4BC8-9691-D95EFE0FC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143000" y="-1143000"/>
            <a:ext cx="4191000" cy="419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D9488">
              <a:alpha val="2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F7B0B6C-C760-4A38-95EC-82CB30E51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-1047750"/>
            <a:ext cx="4000500" cy="400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284C7">
              <a:alpha val="2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7FBE372-9F0E-4165-ACDF-E0DF2A97E5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19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DD4B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0C05383-303F-4C26-9426-282EF09EED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14350"/>
            <a:ext cx="5334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DD4B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DD4BF"/>
                </a:solidFill>
                <a:latin typeface="Aptos"/>
                <a:ea typeface="Aptos"/>
                <a:cs typeface="Aptos"/>
              </a:rPr>
              <a:t>JIRA TOOL INTEGRATION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4731526-CFAA-4455-9657-4EA781F34A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76300"/>
            <a:ext cx="93345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F8FAFC"/>
                </a:solidFill>
                <a:latin typeface="Aptos Display"/>
                <a:ea typeface="Aptos Display"/>
                <a:cs typeface="Aptos Display"/>
              </a:defRPr>
            </a:pPr>
            <a:r>
              <a:rPr sz="3000" b="1">
                <a:solidFill>
                  <a:srgbClr val="F8FAFC"/>
                </a:solidFill>
                <a:latin typeface="Aptos Display"/>
                <a:ea typeface="Aptos Display"/>
                <a:cs typeface="Aptos Display"/>
              </a:rPr>
              <a:t>Sprint 3 active board shows sprint execution and live task status.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BC39093-89E0-4DC8-BEDA-154FBCF9D8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885950"/>
            <a:ext cx="1257300" cy="3048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60A5FA">
              <a:alpha val="13333"/>
            </a:srgbClr>
          </a:solidFill>
          <a:ln xmlns:a="http://schemas.openxmlformats.org/drawingml/2006/main" w="9525">
            <a:solidFill>
              <a:srgbClr val="60A5FA">
                <a:alpha val="53333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C46087C-6EE4-4FA2-924B-B48822A8E2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962150"/>
            <a:ext cx="10668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Active sprints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668CA49-4E92-4AEF-AA08-0B743E61DE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1885950"/>
            <a:ext cx="1352550" cy="3048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2DD4BF">
              <a:alpha val="13333"/>
            </a:srgbClr>
          </a:solidFill>
          <a:ln xmlns:a="http://schemas.openxmlformats.org/drawingml/2006/main" w="9525">
            <a:solidFill>
              <a:srgbClr val="2DD4BF">
                <a:alpha val="53333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7636269-46F1-4DBD-8950-D2ED71599F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1962150"/>
            <a:ext cx="11620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Group: Stories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A26FDE6-EF7E-4A47-BE91-7711A9E25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1885950"/>
            <a:ext cx="914400" cy="3048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BBF24">
              <a:alpha val="13333"/>
            </a:srgbClr>
          </a:solidFill>
          <a:ln xmlns:a="http://schemas.openxmlformats.org/drawingml/2006/main" w="9525">
            <a:solidFill>
              <a:srgbClr val="FBBF24">
                <a:alpha val="53333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0800683-0F87-465B-A81D-2A64129573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1962150"/>
            <a:ext cx="7239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Sprint 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C614FF4-C8AC-4A0C-917E-7B1378958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24100"/>
            <a:ext cx="3238500" cy="3390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1A21">
              <a:alpha val="80000"/>
            </a:srgbClr>
          </a:solidFill>
          <a:ln xmlns:a="http://schemas.openxmlformats.org/drawingml/2006/main" w="9525">
            <a:solidFill>
              <a:srgbClr val="1E293B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F462C45-0E24-40BC-A1C4-E34C04F509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514600"/>
            <a:ext cx="1714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CBD5E1"/>
                </a:solidFill>
                <a:latin typeface="Aptos"/>
                <a:ea typeface="Aptos"/>
                <a:cs typeface="Aptos"/>
              </a:rPr>
              <a:t>TO DO  5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93AF6CE-D146-4278-B819-A353A90BE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895600"/>
            <a:ext cx="2895600" cy="80010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20242C">
              <a:alpha val="80000"/>
            </a:srgbClr>
          </a:solidFill>
          <a:ln xmlns:a="http://schemas.openxmlformats.org/drawingml/2006/main" w="9525">
            <a:solidFill>
              <a:srgbClr val="334155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D14096C-9F84-4546-AE1F-AADFEB19E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028950"/>
            <a:ext cx="25527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Resume data saved securely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8A9B030-5D3C-48A4-A864-078BCD98AE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448050"/>
            <a:ext cx="857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0A5FA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60A5FA"/>
                </a:solidFill>
                <a:latin typeface="Aptos"/>
                <a:ea typeface="Aptos"/>
                <a:cs typeface="Aptos"/>
              </a:rPr>
              <a:t>ARP-53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0C2D85C-CF73-4D76-9A7A-FA643E90D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3486150"/>
            <a:ext cx="1143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718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CECED15-4100-4A6F-8582-5671291FE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771900"/>
            <a:ext cx="2895600" cy="80010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20242C">
              <a:alpha val="80000"/>
            </a:srgbClr>
          </a:solidFill>
          <a:ln xmlns:a="http://schemas.openxmlformats.org/drawingml/2006/main" w="9525">
            <a:solidFill>
              <a:srgbClr val="334155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746DCE0-0E64-459C-9E4A-8340C20C66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905250"/>
            <a:ext cx="25527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Show upload/input errors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6FAFBBA-62D7-40DC-A92C-37CC4AB73B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324350"/>
            <a:ext cx="857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0A5FA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60A5FA"/>
                </a:solidFill>
                <a:latin typeface="Aptos"/>
                <a:ea typeface="Aptos"/>
                <a:cs typeface="Aptos"/>
              </a:rPr>
              <a:t>ARP-28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A825D2C-C84D-4852-BA84-C8F5CA41D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4362450"/>
            <a:ext cx="1143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718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BBD32DA-F822-4E28-8836-C81F73ED1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648200"/>
            <a:ext cx="2895600" cy="80010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20242C">
              <a:alpha val="80000"/>
            </a:srgbClr>
          </a:solidFill>
          <a:ln xmlns:a="http://schemas.openxmlformats.org/drawingml/2006/main" w="9525">
            <a:solidFill>
              <a:srgbClr val="334155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FC3F4AF-6997-4A0D-90B8-537F35C8FE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781550"/>
            <a:ext cx="25527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Create Prisma client utility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4D20520-2EF7-419C-8D14-EC1925156F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200650"/>
            <a:ext cx="857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0A5FA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60A5FA"/>
                </a:solidFill>
                <a:latin typeface="Aptos"/>
                <a:ea typeface="Aptos"/>
                <a:cs typeface="Aptos"/>
              </a:rPr>
              <a:t>ARP-37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D7891A6-43B4-401E-B5C2-9B6A0D67F6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5238750"/>
            <a:ext cx="1143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718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23AED6F-9D23-40DB-B328-D561B1DD1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324100"/>
            <a:ext cx="3238500" cy="3390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1A21">
              <a:alpha val="80000"/>
            </a:srgbClr>
          </a:solidFill>
          <a:ln xmlns:a="http://schemas.openxmlformats.org/drawingml/2006/main" w="9525">
            <a:solidFill>
              <a:srgbClr val="1E293B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71BFE80-BE23-471A-B385-9D853D1976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2514600"/>
            <a:ext cx="1714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CBD5E1"/>
                </a:solidFill>
                <a:latin typeface="Aptos"/>
                <a:ea typeface="Aptos"/>
                <a:cs typeface="Aptos"/>
              </a:rPr>
              <a:t>IN PROGRESS  3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D18E011-B248-4E37-98D9-8DD73FDECD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2895600"/>
            <a:ext cx="2895600" cy="80010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20242C">
              <a:alpha val="80000"/>
            </a:srgbClr>
          </a:solidFill>
          <a:ln xmlns:a="http://schemas.openxmlformats.org/drawingml/2006/main" w="9525">
            <a:solidFill>
              <a:srgbClr val="334155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5FB65CE-F57E-4A7C-8F63-081EB471F1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028950"/>
            <a:ext cx="25527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Save resume text to database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78BDC7E-08C2-47B6-AB66-F48BD3CFAD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448050"/>
            <a:ext cx="857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0A5FA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60A5FA"/>
                </a:solidFill>
                <a:latin typeface="Aptos"/>
                <a:ea typeface="Aptos"/>
                <a:cs typeface="Aptos"/>
              </a:rPr>
              <a:t>ARP-38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0172DA4-AEB1-4CD3-95F8-D3335F53A8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3486150"/>
            <a:ext cx="1143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BF2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2D29332-BD09-4418-AE58-B89CE2ACE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3771900"/>
            <a:ext cx="2895600" cy="80010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20242C">
              <a:alpha val="80000"/>
            </a:srgbClr>
          </a:solidFill>
          <a:ln xmlns:a="http://schemas.openxmlformats.org/drawingml/2006/main" w="9525">
            <a:solidFill>
              <a:srgbClr val="334155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3DDE1C2-B5C4-49BF-A02E-AAB4E5427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905250"/>
            <a:ext cx="25527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Handle submit loading state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93F3D49-51CE-4D07-A9E8-7D64D0DF62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324350"/>
            <a:ext cx="857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0A5FA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60A5FA"/>
                </a:solidFill>
                <a:latin typeface="Aptos"/>
                <a:ea typeface="Aptos"/>
                <a:cs typeface="Aptos"/>
              </a:rPr>
              <a:t>ARP-27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7662428B-855B-467C-9A0A-0B4BF85C9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4362450"/>
            <a:ext cx="1143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BF2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6D47326D-057E-4CDE-88A8-0991C94132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4648200"/>
            <a:ext cx="2895600" cy="80010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20242C">
              <a:alpha val="80000"/>
            </a:srgbClr>
          </a:solidFill>
          <a:ln xmlns:a="http://schemas.openxmlformats.org/drawingml/2006/main" w="9525">
            <a:solidFill>
              <a:srgbClr val="334155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3610BE18-E583-453E-A0C1-E8684AE9E3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781550"/>
            <a:ext cx="25527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Create Prisma schema models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BFAF4052-143F-4FD5-88AA-FE6FE611D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5200650"/>
            <a:ext cx="857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0A5FA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60A5FA"/>
                </a:solidFill>
                <a:latin typeface="Aptos"/>
                <a:ea typeface="Aptos"/>
                <a:cs typeface="Aptos"/>
              </a:rPr>
              <a:t>ARP-35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196F26DD-25E7-4FA3-863A-9F7D063AA6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5238750"/>
            <a:ext cx="1143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BF2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3B9FDF0B-4D0C-460B-B64B-92E566EE9F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324100"/>
            <a:ext cx="3238500" cy="3390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1A21">
              <a:alpha val="80000"/>
            </a:srgbClr>
          </a:solidFill>
          <a:ln xmlns:a="http://schemas.openxmlformats.org/drawingml/2006/main" w="9525">
            <a:solidFill>
              <a:srgbClr val="1E293B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54A991DD-2BE0-4D8E-9C4A-4EAA217DE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2514600"/>
            <a:ext cx="1714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CBD5E1"/>
                </a:solidFill>
                <a:latin typeface="Aptos"/>
                <a:ea typeface="Aptos"/>
                <a:cs typeface="Aptos"/>
              </a:rPr>
              <a:t>DONE  0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B81ACA7F-56C9-4CE0-89A0-12B240D200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2895600"/>
            <a:ext cx="2895600" cy="80010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20242C">
              <a:alpha val="80000"/>
            </a:srgbClr>
          </a:solidFill>
          <a:ln xmlns:a="http://schemas.openxmlformats.org/drawingml/2006/main" w="9525">
            <a:solidFill>
              <a:srgbClr val="334155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1B8AF8DE-2B7C-4DC3-904A-43D08CE0F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028950"/>
            <a:ext cx="25527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Ready for completed sprint items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A91CA94C-32BA-44DD-A472-DA9A3E593A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448050"/>
            <a:ext cx="857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0A5FA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60A5FA"/>
                </a:solidFill>
                <a:latin typeface="Aptos"/>
                <a:ea typeface="Aptos"/>
                <a:cs typeface="Aptos"/>
              </a:rPr>
              <a:t>OPEN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D89A365F-EEB5-4283-94EA-F520B65DDE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3486150"/>
            <a:ext cx="1143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718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31AB48D3-AB2C-41DB-A141-0B3C93A0B7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3771900"/>
            <a:ext cx="2895600" cy="80010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20242C">
              <a:alpha val="80000"/>
            </a:srgbClr>
          </a:solidFill>
          <a:ln xmlns:a="http://schemas.openxmlformats.org/drawingml/2006/main" w="9525">
            <a:solidFill>
              <a:srgbClr val="334155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119B8A33-D0BC-42AF-B352-FDA602453F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905250"/>
            <a:ext cx="25527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Used to verify closure during demo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22C64F8D-261B-4E13-8F6B-489B8990D2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4324350"/>
            <a:ext cx="857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0A5FA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60A5FA"/>
                </a:solidFill>
                <a:latin typeface="Aptos"/>
                <a:ea typeface="Aptos"/>
                <a:cs typeface="Aptos"/>
              </a:rPr>
              <a:t>OPEN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7F6F24CA-599C-419F-BECE-F186C7FA97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4362450"/>
            <a:ext cx="1143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718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802FD7F4-9C9B-46F0-AB16-1B9BA6CC50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6667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94A3B8"/>
                </a:solidFill>
                <a:latin typeface="Aptos"/>
                <a:ea typeface="Aptos"/>
                <a:cs typeface="Aptos"/>
              </a:rPr>
              <a:t>Jira Tool Integration | Sprint 3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09301DD6-FAB8-4D80-B978-F968590CFD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43650"/>
            <a:ext cx="5334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94A3B8"/>
                </a:solidFill>
                <a:latin typeface="Aptos"/>
                <a:ea typeface="Aptos"/>
                <a:cs typeface="Aptos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659613265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5F75658-9B82-4279-870D-885B04F62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70A12"/>
              </a:gs>
              <a:gs pos="50000">
                <a:srgbClr val="0F172A"/>
              </a:gs>
              <a:gs pos="100000">
                <a:srgbClr val="07111F"/>
              </a:gs>
            </a:gsLst>
            <a:lin ang="8100000"/>
          </a:gra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BAC7484-5264-4BB0-8E18-842EE47AD7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143000" y="-1143000"/>
            <a:ext cx="4191000" cy="419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D9488">
              <a:alpha val="2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ED80AFD-4655-404B-B9B6-3E834C8DA8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-1047750"/>
            <a:ext cx="4000500" cy="400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284C7">
              <a:alpha val="2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B6E6109-C34E-4C21-93B4-1347D6B6AB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19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DD4B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F414D74-D683-4875-A52D-722496F48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14350"/>
            <a:ext cx="5334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DD4B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DD4BF"/>
                </a:solidFill>
                <a:latin typeface="Aptos"/>
                <a:ea typeface="Aptos"/>
                <a:cs typeface="Aptos"/>
              </a:rPr>
              <a:t>JIRA BACKLOG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CD96606-3D34-4FFE-B2AA-DB6B861269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76300"/>
            <a:ext cx="93345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F8FAFC"/>
                </a:solidFill>
                <a:latin typeface="Aptos Display"/>
                <a:ea typeface="Aptos Display"/>
                <a:cs typeface="Aptos Display"/>
              </a:defRPr>
            </a:pPr>
            <a:r>
              <a:rPr sz="3150" b="1">
                <a:solidFill>
                  <a:srgbClr val="F8FAFC"/>
                </a:solidFill>
                <a:latin typeface="Aptos Display"/>
                <a:ea typeface="Aptos Display"/>
                <a:cs typeface="Aptos Display"/>
              </a:rPr>
              <a:t>Backlog keeps remaining work visible before it enters a sprint.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64BF61F-F675-460C-86C1-DF9651A6CB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228850"/>
            <a:ext cx="10858500" cy="2952750"/>
          </a:xfrm>
          <a:prstGeom xmlns:a="http://schemas.openxmlformats.org/drawingml/2006/main" prst="roundRect">
            <a:avLst>
              <a:gd name="adj" fmla="val 2581"/>
            </a:avLst>
          </a:prstGeom>
          <a:solidFill xmlns:a="http://schemas.openxmlformats.org/drawingml/2006/main">
            <a:srgbClr val="0B1220">
              <a:alpha val="86667"/>
            </a:srgbClr>
          </a:solidFill>
          <a:ln xmlns:a="http://schemas.openxmlformats.org/drawingml/2006/main" w="9525">
            <a:solidFill>
              <a:srgbClr val="334155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5E65041-BDC4-4571-A90C-EDA58B2DC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533650"/>
            <a:ext cx="3429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Backlog  |  21 work items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AFAA973-73C5-49F2-BEA1-D8FE7EF0D5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067050"/>
            <a:ext cx="762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0A5FA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60A5FA"/>
                </a:solidFill>
                <a:latin typeface="Aptos"/>
                <a:ea typeface="Aptos"/>
                <a:cs typeface="Aptos"/>
              </a:rPr>
              <a:t>ARP-39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5E17F5F-8BC2-4F8D-A3B1-0DAC3A7D79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3067050"/>
            <a:ext cx="400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CBD5E1"/>
                </a:solidFill>
                <a:latin typeface="Aptos"/>
                <a:ea typeface="Aptos"/>
                <a:cs typeface="Aptos"/>
              </a:rPr>
              <a:t>Save analysis report to database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422FE64-C112-40A2-93DF-351D890A2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3038475"/>
            <a:ext cx="647700" cy="3048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CBD5E1">
              <a:alpha val="13333"/>
            </a:srgbClr>
          </a:solidFill>
          <a:ln xmlns:a="http://schemas.openxmlformats.org/drawingml/2006/main" w="9525">
            <a:solidFill>
              <a:srgbClr val="CBD5E1">
                <a:alpha val="53333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65E9F1B-6C2E-4710-BACE-554381D1B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3114675"/>
            <a:ext cx="4572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TO DO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155A7E9-14F2-43E1-BA83-0ED57D93F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524250"/>
            <a:ext cx="762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0A5FA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60A5FA"/>
                </a:solidFill>
                <a:latin typeface="Aptos"/>
                <a:ea typeface="Aptos"/>
                <a:cs typeface="Aptos"/>
              </a:rPr>
              <a:t>ARP-45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1A2E7D0-7820-41F8-8EA7-8350EE87EA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3524250"/>
            <a:ext cx="400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CBD5E1"/>
                </a:solidFill>
                <a:latin typeface="Aptos"/>
                <a:ea typeface="Aptos"/>
                <a:cs typeface="Aptos"/>
              </a:rPr>
              <a:t>Display analysis history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DFF1FB6-9947-4CBE-9474-DB106CDFE7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3495675"/>
            <a:ext cx="647700" cy="3048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CBD5E1">
              <a:alpha val="13333"/>
            </a:srgbClr>
          </a:solidFill>
          <a:ln xmlns:a="http://schemas.openxmlformats.org/drawingml/2006/main" w="9525">
            <a:solidFill>
              <a:srgbClr val="CBD5E1">
                <a:alpha val="53333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1E700C2-83D0-44BB-9F08-F56376064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3571875"/>
            <a:ext cx="4572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TO DO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B4787A1-3106-4EE2-8D0A-CBF439B90B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981450"/>
            <a:ext cx="762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0A5FA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60A5FA"/>
                </a:solidFill>
                <a:latin typeface="Aptos"/>
                <a:ea typeface="Aptos"/>
                <a:cs typeface="Aptos"/>
              </a:rPr>
              <a:t>ARP-21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9C18855-2627-4E31-9F4F-D1EAB7747F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3981450"/>
            <a:ext cx="400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CBD5E1"/>
                </a:solidFill>
                <a:latin typeface="Aptos"/>
                <a:ea typeface="Aptos"/>
                <a:cs typeface="Aptos"/>
              </a:rPr>
              <a:t>Show authentication loading and error states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ABEF943-D2E7-4D84-B91B-165F8B1BE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3952875"/>
            <a:ext cx="647700" cy="3048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CBD5E1">
              <a:alpha val="13333"/>
            </a:srgbClr>
          </a:solidFill>
          <a:ln xmlns:a="http://schemas.openxmlformats.org/drawingml/2006/main" w="9525">
            <a:solidFill>
              <a:srgbClr val="CBD5E1">
                <a:alpha val="53333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AC7C2D6-7C67-48AA-B5E5-EB8766466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4029075"/>
            <a:ext cx="4572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TO DO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9EE59F6-0B46-4B1A-9266-C9BA6E4C3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438650"/>
            <a:ext cx="762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0A5FA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60A5FA"/>
                </a:solidFill>
                <a:latin typeface="Aptos"/>
                <a:ea typeface="Aptos"/>
                <a:cs typeface="Aptos"/>
              </a:rPr>
              <a:t>ARP-23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92E762B-1F9F-43B1-9816-CF840BDD12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4438650"/>
            <a:ext cx="400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CBD5E1"/>
                </a:solidFill>
                <a:latin typeface="Aptos"/>
                <a:ea typeface="Aptos"/>
                <a:cs typeface="Aptos"/>
              </a:rPr>
              <a:t>Redirect unauthenticated users from protected pages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BC61C55-C67C-4FD8-933C-4C32848EC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4410075"/>
            <a:ext cx="647700" cy="3048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CBD5E1">
              <a:alpha val="13333"/>
            </a:srgbClr>
          </a:solidFill>
          <a:ln xmlns:a="http://schemas.openxmlformats.org/drawingml/2006/main" w="9525">
            <a:solidFill>
              <a:srgbClr val="CBD5E1">
                <a:alpha val="53333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4A04EAC-4F2F-4C01-A623-BF672A3E9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4486275"/>
            <a:ext cx="4572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TO DO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086C2C9-73F9-4B1E-9814-14FB9802C4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3067050"/>
            <a:ext cx="762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0A5FA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60A5FA"/>
                </a:solidFill>
                <a:latin typeface="Aptos"/>
                <a:ea typeface="Aptos"/>
                <a:cs typeface="Aptos"/>
              </a:rPr>
              <a:t>ARP-29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9721960-DBEF-407C-8E80-019FC08CE7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3067050"/>
            <a:ext cx="400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CBD5E1"/>
                </a:solidFill>
                <a:latin typeface="Aptos"/>
                <a:ea typeface="Aptos"/>
                <a:cs typeface="Aptos"/>
              </a:rPr>
              <a:t>Define skill categories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C41599E-AE86-44EF-A937-1958060579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3038475"/>
            <a:ext cx="647700" cy="3048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CBD5E1">
              <a:alpha val="13333"/>
            </a:srgbClr>
          </a:solidFill>
          <a:ln xmlns:a="http://schemas.openxmlformats.org/drawingml/2006/main" w="9525">
            <a:solidFill>
              <a:srgbClr val="CBD5E1">
                <a:alpha val="53333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66B6CA3-B2F9-4F9A-BF26-D53F3BCD2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91800" y="3114675"/>
            <a:ext cx="4572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TO DO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A3EBBDD-2319-40BD-9907-08BB8C7D40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3524250"/>
            <a:ext cx="762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0A5FA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60A5FA"/>
                </a:solidFill>
                <a:latin typeface="Aptos"/>
                <a:ea typeface="Aptos"/>
                <a:cs typeface="Aptos"/>
              </a:rPr>
              <a:t>ARP-30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C07AFD3-1616-4B2D-B0A5-DC5DEF0019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3524250"/>
            <a:ext cx="400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CBD5E1"/>
                </a:solidFill>
                <a:latin typeface="Aptos"/>
                <a:ea typeface="Aptos"/>
                <a:cs typeface="Aptos"/>
              </a:rPr>
              <a:t>Implement skill detection logic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0A52D78-53D1-497F-94EB-B6B60AB3EA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3495675"/>
            <a:ext cx="647700" cy="3048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CBD5E1">
              <a:alpha val="13333"/>
            </a:srgbClr>
          </a:solidFill>
          <a:ln xmlns:a="http://schemas.openxmlformats.org/drawingml/2006/main" w="9525">
            <a:solidFill>
              <a:srgbClr val="CBD5E1">
                <a:alpha val="53333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D371A79-E783-4289-B58E-8285714674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91800" y="3571875"/>
            <a:ext cx="4572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TO DO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8459F8A-3BB2-45BE-8BDD-3EE6A75E41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3981450"/>
            <a:ext cx="762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0A5FA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60A5FA"/>
                </a:solidFill>
                <a:latin typeface="Aptos"/>
                <a:ea typeface="Aptos"/>
                <a:cs typeface="Aptos"/>
              </a:rPr>
              <a:t>ARP-31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6D277921-5BD2-491D-9376-DA6A7B9D5E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3981450"/>
            <a:ext cx="400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CBD5E1"/>
                </a:solidFill>
                <a:latin typeface="Aptos"/>
                <a:ea typeface="Aptos"/>
                <a:cs typeface="Aptos"/>
              </a:rPr>
              <a:t>Implement missing skills logic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446F0B5C-3674-4872-BDC3-7BB790764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3952875"/>
            <a:ext cx="647700" cy="3048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CBD5E1">
              <a:alpha val="13333"/>
            </a:srgbClr>
          </a:solidFill>
          <a:ln xmlns:a="http://schemas.openxmlformats.org/drawingml/2006/main" w="9525">
            <a:solidFill>
              <a:srgbClr val="CBD5E1">
                <a:alpha val="53333"/>
              </a:srgbClr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52DB92A5-56D8-46B8-8EAB-BFEE3BC9F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91800" y="4029075"/>
            <a:ext cx="4572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TO DO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961703F2-2148-4FA6-8056-E63FD34B10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4438650"/>
            <a:ext cx="762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0A5FA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60A5FA"/>
                </a:solidFill>
                <a:latin typeface="Aptos"/>
                <a:ea typeface="Aptos"/>
                <a:cs typeface="Aptos"/>
              </a:rPr>
              <a:t>ARP-32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DC6C5280-B4E4-481F-BDE0-1CA78693F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4438650"/>
            <a:ext cx="400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CBD5E1"/>
                </a:solidFill>
                <a:latin typeface="Aptos"/>
                <a:ea typeface="Aptos"/>
                <a:cs typeface="Aptos"/>
              </a:rPr>
              <a:t>Implement ATS score calculation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144D8E9D-C6B2-40C7-A3FD-29E2698EC1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4410075"/>
            <a:ext cx="647700" cy="3048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CBD5E1">
              <a:alpha val="13333"/>
            </a:srgbClr>
          </a:solidFill>
          <a:ln xmlns:a="http://schemas.openxmlformats.org/drawingml/2006/main" w="9525">
            <a:solidFill>
              <a:srgbClr val="CBD5E1">
                <a:alpha val="53333"/>
              </a:srgbClr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A953B34A-150C-4E86-A9B4-8776EDDA7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91800" y="4486275"/>
            <a:ext cx="4572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TO DO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92529316-65C2-4280-8C24-F0E45D0C1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6667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94A3B8"/>
                </a:solidFill>
                <a:latin typeface="Aptos"/>
                <a:ea typeface="Aptos"/>
                <a:cs typeface="Aptos"/>
              </a:rPr>
              <a:t>Jira Tool Integration | Backlog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5A615FFD-14D0-4BD6-8193-4E694EBE4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43650"/>
            <a:ext cx="5334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94A3B8"/>
                </a:solidFill>
                <a:latin typeface="Aptos"/>
                <a:ea typeface="Aptos"/>
                <a:cs typeface="Aptos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1689044474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B877E74-47FE-475D-B73E-B54517A0A0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70A12"/>
              </a:gs>
              <a:gs pos="50000">
                <a:srgbClr val="0F172A"/>
              </a:gs>
              <a:gs pos="100000">
                <a:srgbClr val="07111F"/>
              </a:gs>
            </a:gsLst>
            <a:lin ang="8100000"/>
          </a:gra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47F74DC-7799-4CF3-8CB3-2310F57680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143000" y="-1143000"/>
            <a:ext cx="4191000" cy="419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D9488">
              <a:alpha val="2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E60DC90-FDEF-4E00-8BBC-C2E0D50C2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-1047750"/>
            <a:ext cx="4000500" cy="400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284C7">
              <a:alpha val="2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A5E4383-280E-40A4-BE3B-E6E1DFBBA3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19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DD4B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A572BDE-D67C-4116-8985-74246D8146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14350"/>
            <a:ext cx="5334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DD4B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DD4BF"/>
                </a:solidFill>
                <a:latin typeface="Aptos"/>
                <a:ea typeface="Aptos"/>
                <a:cs typeface="Aptos"/>
              </a:rPr>
              <a:t>BACKLOG STORIES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FCCE262-91A0-4AF2-9918-CBADCFA50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76300"/>
            <a:ext cx="94297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F8FAFC"/>
                </a:solidFill>
                <a:latin typeface="Aptos Display"/>
                <a:ea typeface="Aptos Display"/>
                <a:cs typeface="Aptos Display"/>
              </a:defRPr>
            </a:pPr>
            <a:r>
              <a:rPr sz="3150" b="1">
                <a:solidFill>
                  <a:srgbClr val="F8FAFC"/>
                </a:solidFill>
                <a:latin typeface="Aptos Display"/>
                <a:ea typeface="Aptos Display"/>
                <a:cs typeface="Aptos Display"/>
              </a:rPr>
              <a:t>Stories translate project features into user-focused work items.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9FC610B-2DE8-4140-B113-5AFA6C3D67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076450"/>
            <a:ext cx="104394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111827">
              <a:alpha val="86667"/>
            </a:srgbClr>
          </a:solidFill>
          <a:ln xmlns:a="http://schemas.openxmlformats.org/drawingml/2006/main" w="9525">
            <a:solidFill>
              <a:srgbClr val="334155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4A403D4-3070-4D15-95DF-A26C62FF9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247900"/>
            <a:ext cx="8001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0A5FA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60A5FA"/>
                </a:solidFill>
                <a:latin typeface="Aptos"/>
                <a:ea typeface="Aptos"/>
                <a:cs typeface="Aptos"/>
              </a:rPr>
              <a:t>ARP-40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0AC250D-9300-4657-A5FC-6EC6EC4A44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2190750"/>
            <a:ext cx="4000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Display score cards on dashboard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0BCB312-F8DF-4FE0-984F-10C2CE7E9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209800"/>
            <a:ext cx="400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94A3B8"/>
                </a:solidFill>
                <a:latin typeface="Aptos"/>
                <a:ea typeface="Aptos"/>
                <a:cs typeface="Aptos"/>
              </a:rPr>
              <a:t>Users quickly understand ATS, frontend, backend, and readiness scores.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8FC6722-DF56-4BB9-98BE-B49674A06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2209800"/>
            <a:ext cx="628650" cy="3048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2DD4BF">
              <a:alpha val="13333"/>
            </a:srgbClr>
          </a:solidFill>
          <a:ln xmlns:a="http://schemas.openxmlformats.org/drawingml/2006/main" w="9525">
            <a:solidFill>
              <a:srgbClr val="2DD4BF">
                <a:alpha val="53333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50D5C7C-8A88-45E4-8E82-C59B2806DE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2286000"/>
            <a:ext cx="4381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Story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C91E446-F098-45AF-83DB-896DA36678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819400"/>
            <a:ext cx="104394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111827">
              <a:alpha val="86667"/>
            </a:srgbClr>
          </a:solidFill>
          <a:ln xmlns:a="http://schemas.openxmlformats.org/drawingml/2006/main" w="9525">
            <a:solidFill>
              <a:srgbClr val="334155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3599B23-8F9B-48C5-BF0C-579748CB81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990850"/>
            <a:ext cx="8001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0A5FA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60A5FA"/>
                </a:solidFill>
                <a:latin typeface="Aptos"/>
                <a:ea typeface="Aptos"/>
                <a:cs typeface="Aptos"/>
              </a:rPr>
              <a:t>ARP-41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7FD9E07-7199-4953-93CF-2F3C50E4B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2933700"/>
            <a:ext cx="4000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Render skill distribution chart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1762A74-80EE-491C-B867-B3E3201F1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952750"/>
            <a:ext cx="400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94A3B8"/>
                </a:solidFill>
                <a:latin typeface="Aptos"/>
                <a:ea typeface="Aptos"/>
                <a:cs typeface="Aptos"/>
              </a:rPr>
              <a:t>Users see skill categories visually.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36AB508-3DED-4155-BADA-AD38E0849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2952750"/>
            <a:ext cx="628650" cy="3048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2DD4BF">
              <a:alpha val="13333"/>
            </a:srgbClr>
          </a:solidFill>
          <a:ln xmlns:a="http://schemas.openxmlformats.org/drawingml/2006/main" w="9525">
            <a:solidFill>
              <a:srgbClr val="2DD4BF">
                <a:alpha val="53333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DAEFB8A-4EC0-4754-A076-C662A2AE3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028950"/>
            <a:ext cx="4381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Story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2076AE0-E939-4B5F-B3B6-16784DAE1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562350"/>
            <a:ext cx="104394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111827">
              <a:alpha val="86667"/>
            </a:srgbClr>
          </a:solidFill>
          <a:ln xmlns:a="http://schemas.openxmlformats.org/drawingml/2006/main" w="9525">
            <a:solidFill>
              <a:srgbClr val="334155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4FDD098-76F9-4C4C-84A3-09CEAEECDC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733800"/>
            <a:ext cx="8001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0A5FA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60A5FA"/>
                </a:solidFill>
                <a:latin typeface="Aptos"/>
                <a:ea typeface="Aptos"/>
                <a:cs typeface="Aptos"/>
              </a:rPr>
              <a:t>ARP-42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27282FA-C88F-4D30-9088-D36B83D9FA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3676650"/>
            <a:ext cx="4000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Render score breakdown chart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3D46566-BA56-4597-8C47-43EDB0040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695700"/>
            <a:ext cx="400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94A3B8"/>
                </a:solidFill>
                <a:latin typeface="Aptos"/>
                <a:ea typeface="Aptos"/>
                <a:cs typeface="Aptos"/>
              </a:rPr>
              <a:t>Users compare all resume scores.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BDCC5A4-4E3E-4016-B96A-C0E8A261A2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3695700"/>
            <a:ext cx="628650" cy="3048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2DD4BF">
              <a:alpha val="13333"/>
            </a:srgbClr>
          </a:solidFill>
          <a:ln xmlns:a="http://schemas.openxmlformats.org/drawingml/2006/main" w="9525">
            <a:solidFill>
              <a:srgbClr val="2DD4BF">
                <a:alpha val="53333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A77F19D-3125-4BF3-8B48-23661226D6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771900"/>
            <a:ext cx="4381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Story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6A8AFE5-B610-4C72-991A-FF442D06C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305300"/>
            <a:ext cx="104394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111827">
              <a:alpha val="86667"/>
            </a:srgbClr>
          </a:solidFill>
          <a:ln xmlns:a="http://schemas.openxmlformats.org/drawingml/2006/main" w="9525">
            <a:solidFill>
              <a:srgbClr val="334155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7C20520-4B79-4224-8086-7B7EFF36C5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476750"/>
            <a:ext cx="8001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0A5FA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60A5FA"/>
                </a:solidFill>
                <a:latin typeface="Aptos"/>
                <a:ea typeface="Aptos"/>
                <a:cs typeface="Aptos"/>
              </a:rPr>
              <a:t>ARP-43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A54EFE5-E436-4AB5-9B02-4B9BC5379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4419600"/>
            <a:ext cx="4000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Display strengths, weaknesses, and recommendations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7B7EA1B-26AA-468B-B835-D787A78AF4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438650"/>
            <a:ext cx="400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94A3B8"/>
                </a:solidFill>
                <a:latin typeface="Aptos"/>
                <a:ea typeface="Aptos"/>
                <a:cs typeface="Aptos"/>
              </a:rPr>
              <a:t>Users receive actionable feedback.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C5FC50D-572D-420B-9ADD-0C8B0E6D58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4438650"/>
            <a:ext cx="628650" cy="3048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2DD4BF">
              <a:alpha val="13333"/>
            </a:srgbClr>
          </a:solidFill>
          <a:ln xmlns:a="http://schemas.openxmlformats.org/drawingml/2006/main" w="9525">
            <a:solidFill>
              <a:srgbClr val="2DD4BF">
                <a:alpha val="53333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86C509B-53B8-4DA1-B7E9-71CC29241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4514850"/>
            <a:ext cx="4381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Story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6B1C4F1-0931-4E31-B574-C1639A0B4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048250"/>
            <a:ext cx="104394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111827">
              <a:alpha val="86667"/>
            </a:srgbClr>
          </a:solidFill>
          <a:ln xmlns:a="http://schemas.openxmlformats.org/drawingml/2006/main" w="9525">
            <a:solidFill>
              <a:srgbClr val="334155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FEEE68D-2ECB-43B2-98D8-C76189815D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219700"/>
            <a:ext cx="8001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0A5FA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60A5FA"/>
                </a:solidFill>
                <a:latin typeface="Aptos"/>
                <a:ea typeface="Aptos"/>
                <a:cs typeface="Aptos"/>
              </a:rPr>
              <a:t>ARP-44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93DCECC-CAD8-4B25-8970-2F777EFD3E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5162550"/>
            <a:ext cx="4000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Display detected and missing skills as badges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9D8786F4-84EF-498D-9AA6-728F83A690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5181600"/>
            <a:ext cx="400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94A3B8"/>
                </a:solidFill>
                <a:latin typeface="Aptos"/>
                <a:ea typeface="Aptos"/>
                <a:cs typeface="Aptos"/>
              </a:rPr>
              <a:t>Users scan skills and gaps easily.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637AFA04-1B66-4E51-91A7-88B79FE272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5181600"/>
            <a:ext cx="628650" cy="3048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2DD4BF">
              <a:alpha val="13333"/>
            </a:srgbClr>
          </a:solidFill>
          <a:ln xmlns:a="http://schemas.openxmlformats.org/drawingml/2006/main" w="9525">
            <a:solidFill>
              <a:srgbClr val="2DD4BF">
                <a:alpha val="53333"/>
              </a:srgbClr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62EF1343-8580-4791-B4A3-91FB0550A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5257800"/>
            <a:ext cx="4381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Story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B633210D-3F81-425D-8672-E0DB8404BB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6667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94A3B8"/>
                </a:solidFill>
                <a:latin typeface="Aptos"/>
                <a:ea typeface="Aptos"/>
                <a:cs typeface="Aptos"/>
              </a:rPr>
              <a:t>Jira Tool Integration | Stories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C2081BAD-3A39-4912-BE10-B1DB35BC7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43650"/>
            <a:ext cx="5334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94A3B8"/>
                </a:solidFill>
                <a:latin typeface="Aptos"/>
                <a:ea typeface="Aptos"/>
                <a:cs typeface="Aptos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1312444560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24F814E-21DD-4DD0-904E-40B8B6A796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70A12"/>
              </a:gs>
              <a:gs pos="50000">
                <a:srgbClr val="0F172A"/>
              </a:gs>
              <a:gs pos="100000">
                <a:srgbClr val="07111F"/>
              </a:gs>
            </a:gsLst>
            <a:lin ang="8100000"/>
          </a:gra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8CBEC4D-1C3D-49D2-B6CF-479CA82682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143000" y="-1143000"/>
            <a:ext cx="4191000" cy="419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D9488">
              <a:alpha val="2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49C1123-718B-4A8E-A595-167B630BD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-1047750"/>
            <a:ext cx="4000500" cy="400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284C7">
              <a:alpha val="2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A0ED137-0AA5-402C-9357-66C772CCA2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19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DD4B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7B5D866-B550-4755-89E8-8C3A787B0D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14350"/>
            <a:ext cx="5334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DD4B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DD4BF"/>
                </a:solidFill>
                <a:latin typeface="Aptos"/>
                <a:ea typeface="Aptos"/>
                <a:cs typeface="Aptos"/>
              </a:rPr>
              <a:t>JIRA SUMMARY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32EC3C2-DD00-4328-83E4-ECE4D21E1E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76300"/>
            <a:ext cx="97155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F8FAFC"/>
                </a:solidFill>
                <a:latin typeface="Aptos Display"/>
                <a:ea typeface="Aptos Display"/>
                <a:cs typeface="Aptos Display"/>
              </a:defRPr>
            </a:pPr>
            <a:r>
              <a:rPr sz="3000" b="1">
                <a:solidFill>
                  <a:srgbClr val="F8FAFC"/>
                </a:solidFill>
                <a:latin typeface="Aptos Display"/>
                <a:ea typeface="Aptos Display"/>
                <a:cs typeface="Aptos Display"/>
              </a:rPr>
              <a:t>Jira supports SCM by connecting requirements, tasks, sprints, and verification.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A520238-ABC0-4880-B003-BE871C715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324100"/>
            <a:ext cx="4762500" cy="11239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0B1220">
              <a:alpha val="86667"/>
            </a:srgbClr>
          </a:solidFill>
          <a:ln xmlns:a="http://schemas.openxmlformats.org/drawingml/2006/main" w="9525">
            <a:solidFill>
              <a:srgbClr val="334155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F869464-3F5F-4F44-9C2E-345E12C21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5908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DD4B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EDF959E-388F-476E-9FD3-644F12B12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2514600"/>
            <a:ext cx="3619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Traceability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7DEF606-91D3-4DD1-8646-74DDB9CEE0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2876550"/>
            <a:ext cx="37147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CBD5E1"/>
                </a:solidFill>
                <a:latin typeface="Aptos"/>
                <a:ea typeface="Aptos"/>
                <a:cs typeface="Aptos"/>
              </a:rPr>
              <a:t>Each issue maps a requirement to implementation work.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311077D-934E-41B7-A256-E2DA3675D8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324100"/>
            <a:ext cx="4762500" cy="11239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0B1220">
              <a:alpha val="86667"/>
            </a:srgbClr>
          </a:solidFill>
          <a:ln xmlns:a="http://schemas.openxmlformats.org/drawingml/2006/main" w="9525">
            <a:solidFill>
              <a:srgbClr val="334155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CC10369-A144-420F-B956-2EEEB54B0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5908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8BDF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A2BEB0F-BF3F-4D0F-8DEB-501675330B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2514600"/>
            <a:ext cx="3619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Sprint control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483BF40-3917-440F-8289-674B32280B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2876550"/>
            <a:ext cx="37147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CBD5E1"/>
                </a:solidFill>
                <a:latin typeface="Aptos"/>
                <a:ea typeface="Aptos"/>
                <a:cs typeface="Aptos"/>
              </a:rPr>
              <a:t>Sprint 3 shows what is planned, in progress, and pending.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906D582-0F6C-4F6F-B974-21EFF02B47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905250"/>
            <a:ext cx="4762500" cy="11239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0B1220">
              <a:alpha val="86667"/>
            </a:srgbClr>
          </a:solidFill>
          <a:ln xmlns:a="http://schemas.openxmlformats.org/drawingml/2006/main" w="9525">
            <a:solidFill>
              <a:srgbClr val="334155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31E99BF-E369-4800-8B39-768BA15F3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1719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BBF2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D839917-BE23-4E51-9DFF-B3691A2B8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095750"/>
            <a:ext cx="3619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Change tracking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FA1827B-B380-4A9F-A101-D2D3C67EED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457700"/>
            <a:ext cx="37147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CBD5E1"/>
                </a:solidFill>
                <a:latin typeface="Aptos"/>
                <a:ea typeface="Aptos"/>
                <a:cs typeface="Aptos"/>
              </a:rPr>
              <a:t>New features enter the backlog before development.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EF35009-3353-4873-8801-6D5C0B3710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905250"/>
            <a:ext cx="4762500" cy="11239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0B1220">
              <a:alpha val="86667"/>
            </a:srgbClr>
          </a:solidFill>
          <a:ln xmlns:a="http://schemas.openxmlformats.org/drawingml/2006/main" w="9525">
            <a:solidFill>
              <a:srgbClr val="334155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2F95BFE-6FDA-43D8-8243-E28A760411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41719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4D39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CFF58EE-E2BF-41D4-9B18-D898F45A78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4095750"/>
            <a:ext cx="3619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Demo readiness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503B8EB-9C84-4842-BEE4-B588435F54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4457700"/>
            <a:ext cx="37147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CBD5E1"/>
                </a:solidFill>
                <a:latin typeface="Aptos"/>
                <a:ea typeface="Aptos"/>
                <a:cs typeface="Aptos"/>
              </a:rPr>
              <a:t>Testing tasks verify build, auth, resume analysis, and PDF handling.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4A14AC8-7763-4EF4-9048-70BCFE2D7D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6667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94A3B8"/>
                </a:solidFill>
                <a:latin typeface="Aptos"/>
                <a:ea typeface="Aptos"/>
                <a:cs typeface="Aptos"/>
              </a:rPr>
              <a:t>Jira Tool Integration | SCM Summary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11E2A64-674F-4FDB-9E15-EEB69A3B6C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43650"/>
            <a:ext cx="5334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94A3B8"/>
                </a:solidFill>
                <a:latin typeface="Aptos"/>
                <a:ea typeface="Aptos"/>
                <a:cs typeface="Aptos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646189712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BFF7102-10D6-4C4F-B447-9FC73615A2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70A12"/>
              </a:gs>
              <a:gs pos="50000">
                <a:srgbClr val="0F172A"/>
              </a:gs>
              <a:gs pos="100000">
                <a:srgbClr val="07111F"/>
              </a:gs>
            </a:gsLst>
            <a:lin ang="8100000"/>
          </a:gra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A3CCE85-C852-430A-ADE7-6615D65FC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143000" y="-1143000"/>
            <a:ext cx="4191000" cy="419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D9488">
              <a:alpha val="2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8241F77-A961-472A-98EF-CC2B1BBD0D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-1047750"/>
            <a:ext cx="4000500" cy="400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284C7">
              <a:alpha val="2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2BE9770-F630-4F23-ADDA-BA30AEB20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19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DD4B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F4B689A-800B-49FA-BB4A-44399B07FB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14350"/>
            <a:ext cx="5334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DD4B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DD4BF"/>
                </a:solidFill>
                <a:latin typeface="Aptos"/>
                <a:ea typeface="Aptos"/>
                <a:cs typeface="Aptos"/>
              </a:rPr>
              <a:t>STORIES VIEW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B362AF3-AC3D-40BD-B24D-1CB0343CFB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76300"/>
            <a:ext cx="93345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F8FAFC"/>
                </a:solidFill>
                <a:latin typeface="Aptos Display"/>
                <a:ea typeface="Aptos Display"/>
                <a:cs typeface="Aptos Display"/>
              </a:defRPr>
            </a:pPr>
            <a:r>
              <a:rPr sz="3150" b="1">
                <a:solidFill>
                  <a:srgbClr val="F8FAFC"/>
                </a:solidFill>
                <a:latin typeface="Aptos Display"/>
                <a:ea typeface="Aptos Display"/>
                <a:cs typeface="Aptos Display"/>
              </a:rPr>
              <a:t>Story grouping highlights user value for Sprint 3.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01B62DF-B58B-4000-B0F0-D71C7E003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114550"/>
            <a:ext cx="10325100" cy="3238500"/>
          </a:xfrm>
          <a:prstGeom xmlns:a="http://schemas.openxmlformats.org/drawingml/2006/main" prst="roundRect">
            <a:avLst>
              <a:gd name="adj" fmla="val 2353"/>
            </a:avLst>
          </a:prstGeom>
          <a:solidFill xmlns:a="http://schemas.openxmlformats.org/drawingml/2006/main">
            <a:srgbClr val="151A21">
              <a:alpha val="86667"/>
            </a:srgbClr>
          </a:solidFill>
          <a:ln xmlns:a="http://schemas.openxmlformats.org/drawingml/2006/main" w="9525">
            <a:solidFill>
              <a:srgbClr val="334155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2E49179-CE58-4572-81D4-DA581F0463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362200"/>
            <a:ext cx="1714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CBD5E1"/>
                </a:solidFill>
                <a:latin typeface="Aptos"/>
                <a:ea typeface="Aptos"/>
                <a:cs typeface="Aptos"/>
              </a:rPr>
              <a:t>TO DO   3/5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CFDF286-446D-42F5-9B5C-05AB3D547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781300"/>
            <a:ext cx="9696450" cy="9906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20242C">
              <a:alpha val="80000"/>
            </a:srgbClr>
          </a:solidFill>
          <a:ln xmlns:a="http://schemas.openxmlformats.org/drawingml/2006/main" w="9525">
            <a:solidFill>
              <a:srgbClr val="334155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933E43D-2D82-4EDF-B1FE-E8DAE9B8C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2914650"/>
            <a:ext cx="93535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F8FAFC"/>
                </a:solidFill>
                <a:latin typeface="Aptos"/>
                <a:ea typeface="Aptos"/>
                <a:cs typeface="Aptos"/>
              </a:rPr>
              <a:t>As a user, I want my resume data to be saved securely so that I can access previous analysis reports later.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E0C8B03-2CA5-4DB0-ABE2-72125D6A47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3333750"/>
            <a:ext cx="11620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475569"/>
            </a:solidFill>
            <a:prstDash val="solid"/>
          </a:ln>
        </p:spPr>
        <p:txBody>
          <a:bodyPr xmlns:a="http://schemas.openxmlformats.org/drawingml/2006/main" lIns="76200" tIns="19050" rIns="76200" bIns="1905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CBD5E1"/>
                </a:solidFill>
                <a:latin typeface="Aptos"/>
                <a:ea typeface="Aptos"/>
                <a:cs typeface="Aptos"/>
              </a:rPr>
              <a:t>May 30, 2026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DEADD88-E455-4C4F-8C1C-2809250C4C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3524250"/>
            <a:ext cx="857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0A5FA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60A5FA"/>
                </a:solidFill>
                <a:latin typeface="Aptos"/>
                <a:ea typeface="Aptos"/>
                <a:cs typeface="Aptos"/>
              </a:rPr>
              <a:t>ARP-53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5803551-9C17-4C9D-A0CB-82B87DA508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34650" y="3562350"/>
            <a:ext cx="1143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718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A3EBA9A-250A-4AD0-B774-E3D263DE7D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562350"/>
            <a:ext cx="9696450" cy="9906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20242C">
              <a:alpha val="80000"/>
            </a:srgbClr>
          </a:solidFill>
          <a:ln xmlns:a="http://schemas.openxmlformats.org/drawingml/2006/main" w="9525">
            <a:solidFill>
              <a:srgbClr val="334155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E0583D0-91D2-437B-85B3-90B1A258B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3695700"/>
            <a:ext cx="93535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F8FAFC"/>
                </a:solidFill>
                <a:latin typeface="Aptos"/>
                <a:ea typeface="Aptos"/>
                <a:cs typeface="Aptos"/>
              </a:rPr>
              <a:t>As a user, I want visual feedback during resume submission so that I understand the current processing state.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C2E84DE-182D-4134-A07A-93AAE2B1E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4114800"/>
            <a:ext cx="11620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475569"/>
            </a:solidFill>
            <a:prstDash val="solid"/>
          </a:ln>
        </p:spPr>
        <p:txBody>
          <a:bodyPr xmlns:a="http://schemas.openxmlformats.org/drawingml/2006/main" lIns="76200" tIns="19050" rIns="76200" bIns="1905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CBD5E1"/>
                </a:solidFill>
                <a:latin typeface="Aptos"/>
                <a:ea typeface="Aptos"/>
                <a:cs typeface="Aptos"/>
              </a:rPr>
              <a:t>May 30, 2026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C790687-3233-4DC4-A336-98BEE4831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4305300"/>
            <a:ext cx="857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0A5FA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60A5FA"/>
                </a:solidFill>
                <a:latin typeface="Aptos"/>
                <a:ea typeface="Aptos"/>
                <a:cs typeface="Aptos"/>
              </a:rPr>
              <a:t>ARP-54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250EF7B-FD4A-4E93-92A3-8DC214800A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34650" y="4343400"/>
            <a:ext cx="1143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718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A0E5D59-81FA-49F6-AF88-6DEFD4D50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343400"/>
            <a:ext cx="9696450" cy="9906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20242C">
              <a:alpha val="80000"/>
            </a:srgbClr>
          </a:solidFill>
          <a:ln xmlns:a="http://schemas.openxmlformats.org/drawingml/2006/main" w="9525">
            <a:solidFill>
              <a:srgbClr val="334155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A5AC679-C18D-4D87-B24F-579C684DAC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4476750"/>
            <a:ext cx="93535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F8FAFC"/>
                </a:solidFill>
                <a:latin typeface="Aptos"/>
                <a:ea typeface="Aptos"/>
                <a:cs typeface="Aptos"/>
              </a:rPr>
              <a:t>As a developer, I want reusable Prisma utilities and schema models so that database operations remain maintainable and scalable.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1E93280-9080-4FDE-9D1D-4B8EAB4CC2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4895850"/>
            <a:ext cx="11620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475569"/>
            </a:solidFill>
            <a:prstDash val="solid"/>
          </a:ln>
        </p:spPr>
        <p:txBody>
          <a:bodyPr xmlns:a="http://schemas.openxmlformats.org/drawingml/2006/main" lIns="76200" tIns="19050" rIns="76200" bIns="1905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CBD5E1"/>
                </a:solidFill>
                <a:latin typeface="Aptos"/>
                <a:ea typeface="Aptos"/>
                <a:cs typeface="Aptos"/>
              </a:rPr>
              <a:t>May 30, 2026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F68EBD4-0F9F-4CFC-A744-292826633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5086350"/>
            <a:ext cx="857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0A5FA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60A5FA"/>
                </a:solidFill>
                <a:latin typeface="Aptos"/>
                <a:ea typeface="Aptos"/>
                <a:cs typeface="Aptos"/>
              </a:rPr>
              <a:t>ARP-55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9D3B40D-75E1-463A-8CC3-AD0303678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34650" y="5124450"/>
            <a:ext cx="1143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BF2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EA1807B-5FCC-49F9-8DD3-DAF441CD7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266950"/>
            <a:ext cx="1047750" cy="3048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60A5FA">
              <a:alpha val="13333"/>
            </a:srgbClr>
          </a:solidFill>
          <a:ln xmlns:a="http://schemas.openxmlformats.org/drawingml/2006/main" w="9525">
            <a:solidFill>
              <a:srgbClr val="60A5FA">
                <a:alpha val="53333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FD726F1-806E-40F5-8974-2EFEE206C2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343150"/>
            <a:ext cx="857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Type: Story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0D2174E-4965-4E42-BF6A-0E861A5876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2266950"/>
            <a:ext cx="1200150" cy="3048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2DD4BF">
              <a:alpha val="13333"/>
            </a:srgbClr>
          </a:solidFill>
          <a:ln xmlns:a="http://schemas.openxmlformats.org/drawingml/2006/main" w="9525">
            <a:solidFill>
              <a:srgbClr val="2DD4BF">
                <a:alpha val="53333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D5CB0AC-C9BA-458C-BF4C-39A30E080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2343150"/>
            <a:ext cx="10096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Active sprints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53C6F86-30AB-4A8A-B065-8CA1F64EA1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6667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94A3B8"/>
                </a:solidFill>
                <a:latin typeface="Aptos"/>
                <a:ea typeface="Aptos"/>
                <a:cs typeface="Aptos"/>
              </a:rPr>
              <a:t>Jira Tool Integration | Story View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EBBC450-2A68-4A18-AE44-3D7D4838E7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43650"/>
            <a:ext cx="5334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94A3B8"/>
                </a:solidFill>
                <a:latin typeface="Aptos"/>
                <a:ea typeface="Aptos"/>
                <a:cs typeface="Aptos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141348708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2026-05-27T14:40:24.8110000Z</dcterms:created>
  <dcterms:modified xsi:type="dcterms:W3CDTF">2026-05-27T14:40:24.8110000Z</dcterms:modified>
</coreProperties>
</file>